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libri (MS)" charset="1" panose="020F0502020204030204"/>
      <p:regular r:id="rId25"/>
    </p:embeddedFont>
    <p:embeddedFont>
      <p:font typeface="Cambria Bold" charset="1" panose="02040803050406030204"/>
      <p:regular r:id="rId26"/>
    </p:embeddedFont>
    <p:embeddedFont>
      <p:font typeface="Calibri (MS) Bold" charset="1" panose="020F0702030404030204"/>
      <p:regular r:id="rId27"/>
    </p:embeddedFont>
    <p:embeddedFont>
      <p:font typeface="Calibri (MS) Italics" charset="1" panose="020F05020202040A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Buenos días/tardes. Somos el equipo de EnglishConnect, una plataforma virtual para practicar inglés de forma real, con personas del mismo nivel. Vamos a presentar el problema, la solución que diseñamos y el avance del aplicativo.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Los estudiantes de institutos en Lima saben teoría de inglés, pero les cuesta hablarlo con fluidez. Practican solos, sin nadie de su nivel con quien conversar, y las apps que existen o no tienen interacción real o son muy caras. Ese es el problema que queremos resolver.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Nuestro objetivo central es conectar personas reales del mismo nivel de inglés. Para lograrlo trabajamos en tres frentes: emparejar usuarios automáticamente, medir su nivel con un test al registrarse, y corregir su pronunciación en tiempo real con reconocimiento de voz.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alcance cubre seis módulos: el test que mide el nivel, el chat de práctica con texto y audio, el emparejamiento, la gamificación, el feedback de voz y un panel de progreso. Todo esto disponible en web y en aplicación móvil.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Aquí resumimos el modelo de negocio. El problema es la falta de práctica real; la solución, chat con corrección en tiempo real; nuestra ventaja es el algoritmo de emparejamiento propio; y generamos ingresos con una suscripción premium y micropagos.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Detrás de la plataforma está EnglishConnect, la empresa que creamos para este proyecto. Su misión es dar una experiencia de aprendizaje práctica y motivadora, y técnicamente está construida con Java, Servlets y MySQL.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diseño gira en torno a la clase Usuario, relacionada con Mensaje y Nivel. Cada mensaje puede generar una Corrección automática, visible solo para su autor, y el usuario acumula Recompensas conforme practica.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base de datos en MySQL refleja ese diseño de clases: usuario, mensaje, nivel, corrección y recompensa, relacionadas con llaves foráneas y consultas protegidas con PreparedStatement.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arquitectura tiene tres capas: el cliente en JSP y JavaScript, el servidor con Servlets y DAOs que hablan con MySQL, y un servicio externo, la API de LanguageTool, que evalúa la gramática antes de guardar cada mensaje.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Así se ve la experiencia: el usuario inicia sesión, si es nuevo hace un test de cinco preguntas que le asigna un nivel, y entra directo al foro de ese nivel para practicar con personas de habilidad similar.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Uno de los diferenciales es la corrección automática. Cuando alguien comete un error, el sistema le muestra la corrección solo a él, para no generar vergüenza, mientras los demás ven el mensaje normal y la conversación sigue fluyendo.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En el desarrollo seguimos buenas prácticas: control de versiones con Git usando ramas y pull requests, Maven con el plugin Shade para empaquetar todo en un uber-jar, arquitectura en capas con el patrón DAO, y PreparedStatement para proteger la base de datos.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Hasta ahora tenemos el análisis, el diseño y el aplicativo funcionando con login, test, foro y corrección automática. Lo que sigue es reforzar las pruebas de software y seguridad, desplegar la aplicación, y dejar planes de monitoreo y mantenimiento.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Muchas gracias por su atención. Quedamos abiertos a sus preguntas.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Relationship Id="rId6" Target="../media/image3.png" Type="http://schemas.openxmlformats.org/officeDocument/2006/relationships/image"/><Relationship Id="rId7" Target="../media/image7.png" Type="http://schemas.openxmlformats.org/officeDocument/2006/relationships/image"/><Relationship Id="rId8" Target="../media/image5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50440" y="-1783080"/>
            <a:ext cx="7132320" cy="7132320"/>
            <a:chOff x="0" y="0"/>
            <a:chExt cx="9509760" cy="9509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097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133A6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22040" y="6309360"/>
            <a:ext cx="4114800" cy="4114800"/>
            <a:chOff x="0" y="0"/>
            <a:chExt cx="5486400" cy="548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2743200"/>
                  </a:moveTo>
                  <a:cubicBezTo>
                    <a:pt x="0" y="1228217"/>
                    <a:pt x="1228217" y="0"/>
                    <a:pt x="2743200" y="0"/>
                  </a:cubicBezTo>
                  <a:cubicBezTo>
                    <a:pt x="4258183" y="0"/>
                    <a:pt x="5486400" y="1228217"/>
                    <a:pt x="5486400" y="2743200"/>
                  </a:cubicBezTo>
                  <a:cubicBezTo>
                    <a:pt x="5486400" y="4258183"/>
                    <a:pt x="4258183" y="5486400"/>
                    <a:pt x="2743200" y="5486400"/>
                  </a:cubicBezTo>
                  <a:cubicBezTo>
                    <a:pt x="1228217" y="5486400"/>
                    <a:pt x="0" y="4258183"/>
                    <a:pt x="0" y="2743200"/>
                  </a:cubicBezTo>
                  <a:close/>
                </a:path>
              </a:pathLst>
            </a:custGeom>
            <a:solidFill>
              <a:srgbClr val="133A6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920240" y="7406640"/>
            <a:ext cx="4937760" cy="4937760"/>
            <a:chOff x="0" y="0"/>
            <a:chExt cx="6583680" cy="6583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</a:path>
              </a:pathLst>
            </a:custGeom>
            <a:solidFill>
              <a:srgbClr val="133A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960120"/>
            <a:ext cx="15773400" cy="548640"/>
            <a:chOff x="0" y="0"/>
            <a:chExt cx="21031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031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225">
                  <a:solidFill>
                    <a:srgbClr val="9FB3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UNIVERSIDAD TECNOLÓGICA DEL PERÚ  ·  INGENIERÍA DE SISTEMAS E INFORMÁTICA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3429000"/>
            <a:ext cx="15773400" cy="1508760"/>
            <a:chOff x="0" y="0"/>
            <a:chExt cx="21031200" cy="2011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03120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EnglishConnect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280" y="4869180"/>
            <a:ext cx="14127480" cy="960120"/>
            <a:chOff x="0" y="0"/>
            <a:chExt cx="18836640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8366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883664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Plataforma virtual educativa de inglés para estudiantes de un instituto de Lima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6172200"/>
            <a:ext cx="1508760" cy="61722"/>
            <a:chOff x="0" y="0"/>
            <a:chExt cx="2011680" cy="82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11680" cy="82296"/>
            </a:xfrm>
            <a:custGeom>
              <a:avLst/>
              <a:gdLst/>
              <a:ahLst/>
              <a:cxnLst/>
              <a:rect r="r" b="b" t="t" l="l"/>
              <a:pathLst>
                <a:path h="8229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97280" y="6652260"/>
            <a:ext cx="15910560" cy="960120"/>
            <a:chOff x="0" y="0"/>
            <a:chExt cx="21214080" cy="1280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214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14300"/>
              <a:ext cx="21214080" cy="1394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0"/>
                </a:lnSpc>
              </a:pPr>
              <a:r>
                <a:rPr lang="en-US" sz="1950" b="true">
                  <a:solidFill>
                    <a:srgbClr val="1B99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Integrantes:  </a:t>
              </a:r>
              <a:r>
                <a:rPr lang="en-US" sz="1950">
                  <a:solidFill>
                    <a:srgbClr val="D7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Alonso Benito Santillán · Adriano Floreano Segura · Diego Bellido Tello · Jared Torres Urbina · Diego Bravo Arellano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" y="7475220"/>
            <a:ext cx="10972800" cy="480060"/>
            <a:chOff x="0" y="0"/>
            <a:chExt cx="1463040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B99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Profesor:  </a:t>
              </a:r>
              <a:r>
                <a:rPr lang="en-US" sz="1950">
                  <a:solidFill>
                    <a:srgbClr val="D7E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Sava Fernández Dávila Alejandro Ahmed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280" y="9189720"/>
            <a:ext cx="6858000" cy="548640"/>
            <a:chOff x="0" y="0"/>
            <a:chExt cx="91440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144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FA6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Lima – Perú ·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38912"/>
            <a:chOff x="0" y="0"/>
            <a:chExt cx="146304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B99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ASPECTOS GENERALES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 problema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16596360" cy="1947672"/>
            <a:chOff x="0" y="0"/>
            <a:chExt cx="22128480" cy="2596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2596896"/>
            </a:xfrm>
            <a:custGeom>
              <a:avLst/>
              <a:gdLst/>
              <a:ahLst/>
              <a:cxnLst/>
              <a:rect r="r" b="b" t="t" l="l"/>
              <a:pathLst>
                <a:path h="2596896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450592"/>
                  </a:lnTo>
                  <a:cubicBezTo>
                    <a:pt x="22128480" y="2531364"/>
                    <a:pt x="22062948" y="2596896"/>
                    <a:pt x="21982176" y="2596896"/>
                  </a:cubicBezTo>
                  <a:lnTo>
                    <a:pt x="146304" y="2596896"/>
                  </a:lnTo>
                  <a:cubicBezTo>
                    <a:pt x="65532" y="2596896"/>
                    <a:pt x="0" y="2531364"/>
                    <a:pt x="0" y="2450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962656"/>
            <a:ext cx="1097280" cy="1097280"/>
            <a:chOff x="0" y="0"/>
            <a:chExt cx="146304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6367" y="3226003"/>
            <a:ext cx="570586" cy="570586"/>
            <a:chOff x="0" y="0"/>
            <a:chExt cx="760781" cy="760781"/>
          </a:xfrm>
        </p:grpSpPr>
        <p:sp>
          <p:nvSpPr>
            <p:cNvPr name="Freeform 13" id="13" descr="/home/claude/work/icon_target.png"/>
            <p:cNvSpPr/>
            <p:nvPr/>
          </p:nvSpPr>
          <p:spPr>
            <a:xfrm flipH="false" flipV="false" rot="0">
              <a:off x="0" y="0"/>
              <a:ext cx="760730" cy="760730"/>
            </a:xfrm>
            <a:custGeom>
              <a:avLst/>
              <a:gdLst/>
              <a:ahLst/>
              <a:cxnLst/>
              <a:rect r="r" b="b" t="t" l="l"/>
              <a:pathLst>
                <a:path h="760730" w="760730">
                  <a:moveTo>
                    <a:pt x="0" y="0"/>
                  </a:moveTo>
                  <a:lnTo>
                    <a:pt x="760730" y="0"/>
                  </a:lnTo>
                  <a:lnTo>
                    <a:pt x="760730" y="760730"/>
                  </a:lnTo>
                  <a:lnTo>
                    <a:pt x="0" y="76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" b="-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811780" y="2756916"/>
            <a:ext cx="14127480" cy="576072"/>
            <a:chOff x="0" y="0"/>
            <a:chExt cx="18836640" cy="7680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836639" cy="768096"/>
            </a:xfrm>
            <a:custGeom>
              <a:avLst/>
              <a:gdLst/>
              <a:ahLst/>
              <a:cxnLst/>
              <a:rect r="r" b="b" t="t" l="l"/>
              <a:pathLst>
                <a:path h="768096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47" r="0" b="-42784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883664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Fluidez y pronunciación débiles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811780" y="3387852"/>
            <a:ext cx="14127480" cy="891540"/>
            <a:chOff x="0" y="0"/>
            <a:chExt cx="18836640" cy="1188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836639" cy="1188720"/>
            </a:xfrm>
            <a:custGeom>
              <a:avLst/>
              <a:gdLst/>
              <a:ahLst/>
              <a:cxnLst/>
              <a:rect r="r" b="b" t="t" l="l"/>
              <a:pathLst>
                <a:path h="118872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762" r="0" b="-2587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8836640" cy="1255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9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estudiantes manejan teoría de inglés pero no logran comunicarse con fluidez fuera del aula.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4841748"/>
            <a:ext cx="16596360" cy="1947672"/>
            <a:chOff x="0" y="0"/>
            <a:chExt cx="22128480" cy="25968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28480" cy="2596896"/>
            </a:xfrm>
            <a:custGeom>
              <a:avLst/>
              <a:gdLst/>
              <a:ahLst/>
              <a:cxnLst/>
              <a:rect r="r" b="b" t="t" l="l"/>
              <a:pathLst>
                <a:path h="2596896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450592"/>
                  </a:lnTo>
                  <a:cubicBezTo>
                    <a:pt x="22128480" y="2531364"/>
                    <a:pt x="22062948" y="2596896"/>
                    <a:pt x="21982176" y="2596896"/>
                  </a:cubicBezTo>
                  <a:lnTo>
                    <a:pt x="146304" y="2596896"/>
                  </a:lnTo>
                  <a:cubicBezTo>
                    <a:pt x="65532" y="2596896"/>
                    <a:pt x="0" y="2531364"/>
                    <a:pt x="0" y="2450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03020" y="5266944"/>
            <a:ext cx="1097280" cy="1097280"/>
            <a:chOff x="0" y="0"/>
            <a:chExt cx="146304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66367" y="5530291"/>
            <a:ext cx="570586" cy="570586"/>
            <a:chOff x="0" y="0"/>
            <a:chExt cx="760781" cy="760781"/>
          </a:xfrm>
        </p:grpSpPr>
        <p:sp>
          <p:nvSpPr>
            <p:cNvPr name="Freeform 25" id="25" descr="/home/claude/work/icon_target.png"/>
            <p:cNvSpPr/>
            <p:nvPr/>
          </p:nvSpPr>
          <p:spPr>
            <a:xfrm flipH="false" flipV="false" rot="0">
              <a:off x="0" y="0"/>
              <a:ext cx="760730" cy="760730"/>
            </a:xfrm>
            <a:custGeom>
              <a:avLst/>
              <a:gdLst/>
              <a:ahLst/>
              <a:cxnLst/>
              <a:rect r="r" b="b" t="t" l="l"/>
              <a:pathLst>
                <a:path h="760730" w="760730">
                  <a:moveTo>
                    <a:pt x="0" y="0"/>
                  </a:moveTo>
                  <a:lnTo>
                    <a:pt x="760730" y="0"/>
                  </a:lnTo>
                  <a:lnTo>
                    <a:pt x="760730" y="760730"/>
                  </a:lnTo>
                  <a:lnTo>
                    <a:pt x="0" y="76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" b="-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811780" y="5061204"/>
            <a:ext cx="14127480" cy="576072"/>
            <a:chOff x="0" y="0"/>
            <a:chExt cx="18836640" cy="7680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836639" cy="768096"/>
            </a:xfrm>
            <a:custGeom>
              <a:avLst/>
              <a:gdLst/>
              <a:ahLst/>
              <a:cxnLst/>
              <a:rect r="r" b="b" t="t" l="l"/>
              <a:pathLst>
                <a:path h="768096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47" r="0" b="-42784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883664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Práctica aislada y desmotivante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11780" y="5692140"/>
            <a:ext cx="14127480" cy="891540"/>
            <a:chOff x="0" y="0"/>
            <a:chExt cx="18836640" cy="1188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836639" cy="1188720"/>
            </a:xfrm>
            <a:custGeom>
              <a:avLst/>
              <a:gdLst/>
              <a:ahLst/>
              <a:cxnLst/>
              <a:rect r="r" b="b" t="t" l="l"/>
              <a:pathLst>
                <a:path h="118872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762" r="0" b="-2587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8836640" cy="1255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9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Aprenden solos, sin interactuar con personas reales de su mismo nivel.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7146036"/>
            <a:ext cx="16596360" cy="1947672"/>
            <a:chOff x="0" y="0"/>
            <a:chExt cx="22128480" cy="25968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28480" cy="2596896"/>
            </a:xfrm>
            <a:custGeom>
              <a:avLst/>
              <a:gdLst/>
              <a:ahLst/>
              <a:cxnLst/>
              <a:rect r="r" b="b" t="t" l="l"/>
              <a:pathLst>
                <a:path h="2596896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450592"/>
                  </a:lnTo>
                  <a:cubicBezTo>
                    <a:pt x="22128480" y="2531364"/>
                    <a:pt x="22062948" y="2596896"/>
                    <a:pt x="21982176" y="2596896"/>
                  </a:cubicBezTo>
                  <a:lnTo>
                    <a:pt x="146304" y="2596896"/>
                  </a:lnTo>
                  <a:cubicBezTo>
                    <a:pt x="65532" y="2596896"/>
                    <a:pt x="0" y="2531364"/>
                    <a:pt x="0" y="2450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03020" y="7571232"/>
            <a:ext cx="1097280" cy="1097280"/>
            <a:chOff x="0" y="0"/>
            <a:chExt cx="146304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66367" y="7834579"/>
            <a:ext cx="570586" cy="570586"/>
            <a:chOff x="0" y="0"/>
            <a:chExt cx="760781" cy="760781"/>
          </a:xfrm>
        </p:grpSpPr>
        <p:sp>
          <p:nvSpPr>
            <p:cNvPr name="Freeform 37" id="37" descr="/home/claude/work/icon_target.png"/>
            <p:cNvSpPr/>
            <p:nvPr/>
          </p:nvSpPr>
          <p:spPr>
            <a:xfrm flipH="false" flipV="false" rot="0">
              <a:off x="0" y="0"/>
              <a:ext cx="760730" cy="760730"/>
            </a:xfrm>
            <a:custGeom>
              <a:avLst/>
              <a:gdLst/>
              <a:ahLst/>
              <a:cxnLst/>
              <a:rect r="r" b="b" t="t" l="l"/>
              <a:pathLst>
                <a:path h="760730" w="760730">
                  <a:moveTo>
                    <a:pt x="0" y="0"/>
                  </a:moveTo>
                  <a:lnTo>
                    <a:pt x="760730" y="0"/>
                  </a:lnTo>
                  <a:lnTo>
                    <a:pt x="760730" y="760730"/>
                  </a:lnTo>
                  <a:lnTo>
                    <a:pt x="0" y="76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" b="-6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811780" y="7365492"/>
            <a:ext cx="14127480" cy="576072"/>
            <a:chOff x="0" y="0"/>
            <a:chExt cx="18836640" cy="768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836639" cy="768096"/>
            </a:xfrm>
            <a:custGeom>
              <a:avLst/>
              <a:gdLst/>
              <a:ahLst/>
              <a:cxnLst/>
              <a:rect r="r" b="b" t="t" l="l"/>
              <a:pathLst>
                <a:path h="768096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47" r="0" b="-42784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883664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Alternativas actuales insuficientes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811780" y="7996428"/>
            <a:ext cx="14127480" cy="891540"/>
            <a:chOff x="0" y="0"/>
            <a:chExt cx="18836640" cy="1188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836639" cy="1188720"/>
            </a:xfrm>
            <a:custGeom>
              <a:avLst/>
              <a:gdLst/>
              <a:ahLst/>
              <a:cxnLst/>
              <a:rect r="r" b="b" t="t" l="l"/>
              <a:pathLst>
                <a:path h="118872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762" r="0" b="-25876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8836640" cy="1255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9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Poca interacción humana, clases personalizadas costosas y sin feedback inmediato.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419320" y="9669780"/>
            <a:ext cx="685800" cy="411480"/>
            <a:chOff x="0" y="0"/>
            <a:chExt cx="91440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38912"/>
            <a:chOff x="0" y="0"/>
            <a:chExt cx="146304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B99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ASPECTOS GENERALES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Objetivos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16596360" cy="1440180"/>
            <a:chOff x="0" y="0"/>
            <a:chExt cx="22128480" cy="1920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773936"/>
                  </a:lnTo>
                  <a:cubicBezTo>
                    <a:pt x="22128480" y="1854708"/>
                    <a:pt x="22062948" y="1920240"/>
                    <a:pt x="2198217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715768"/>
            <a:ext cx="5486400" cy="411480"/>
            <a:chOff x="0" y="0"/>
            <a:chExt cx="7315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3099816"/>
            <a:ext cx="15636240" cy="795528"/>
            <a:chOff x="0" y="0"/>
            <a:chExt cx="20848320" cy="10607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8483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981" r="0" b="-33298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0848320" cy="11273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una plataforma web y móvil que conecte a los usuarios por nivel de inglés, con chat, audio y ejercicios integrados.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4457700"/>
            <a:ext cx="5308092" cy="4594860"/>
            <a:chOff x="0" y="0"/>
            <a:chExt cx="7077456" cy="6126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77456" cy="6126480"/>
            </a:xfrm>
            <a:custGeom>
              <a:avLst/>
              <a:gdLst/>
              <a:ahLst/>
              <a:cxnLst/>
              <a:rect r="r" b="b" t="t" l="l"/>
              <a:pathLst>
                <a:path h="6126480" w="70774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31152" y="0"/>
                  </a:lnTo>
                  <a:cubicBezTo>
                    <a:pt x="7011924" y="0"/>
                    <a:pt x="7077456" y="65532"/>
                    <a:pt x="7077456" y="146304"/>
                  </a:cubicBezTo>
                  <a:lnTo>
                    <a:pt x="7077456" y="5980176"/>
                  </a:lnTo>
                  <a:cubicBezTo>
                    <a:pt x="7077456" y="6060948"/>
                    <a:pt x="7011924" y="6126480"/>
                    <a:pt x="6931152" y="6126480"/>
                  </a:cubicBezTo>
                  <a:lnTo>
                    <a:pt x="146304" y="6126480"/>
                  </a:lnTo>
                  <a:cubicBezTo>
                    <a:pt x="65532" y="6126480"/>
                    <a:pt x="0" y="6060948"/>
                    <a:pt x="0" y="59801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61872" y="4869180"/>
            <a:ext cx="1028700" cy="1028700"/>
            <a:chOff x="0" y="0"/>
            <a:chExt cx="1371600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08760" y="5116068"/>
            <a:ext cx="534924" cy="534924"/>
            <a:chOff x="0" y="0"/>
            <a:chExt cx="713232" cy="713232"/>
          </a:xfrm>
        </p:grpSpPr>
        <p:sp>
          <p:nvSpPr>
            <p:cNvPr name="Freeform 21" id="21" descr="/home/claude/work/icon_users.png"/>
            <p:cNvSpPr/>
            <p:nvPr/>
          </p:nvSpPr>
          <p:spPr>
            <a:xfrm flipH="false" flipV="false" rot="0">
              <a:off x="0" y="0"/>
              <a:ext cx="713232" cy="713232"/>
            </a:xfrm>
            <a:custGeom>
              <a:avLst/>
              <a:gdLst/>
              <a:ahLst/>
              <a:cxnLst/>
              <a:rect r="r" b="b" t="t" l="l"/>
              <a:pathLst>
                <a:path h="713232" w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34440" y="6103620"/>
            <a:ext cx="4526280" cy="891540"/>
            <a:chOff x="0" y="0"/>
            <a:chExt cx="6035040" cy="1188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350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24" r="0" b="-4892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603504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2175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Emparejamiento inteligente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34440" y="7063740"/>
            <a:ext cx="4526280" cy="1783080"/>
            <a:chOff x="0" y="0"/>
            <a:chExt cx="6035040" cy="2377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350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3" t="0" r="-54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6035040" cy="2434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Conecta automáticamente a usuarios del mismo nivel para sesiones de práctica por texto y audio.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73952" y="4457700"/>
            <a:ext cx="5308092" cy="4594860"/>
            <a:chOff x="0" y="0"/>
            <a:chExt cx="7077456" cy="6126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77456" cy="6126480"/>
            </a:xfrm>
            <a:custGeom>
              <a:avLst/>
              <a:gdLst/>
              <a:ahLst/>
              <a:cxnLst/>
              <a:rect r="r" b="b" t="t" l="l"/>
              <a:pathLst>
                <a:path h="6126480" w="70774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31152" y="0"/>
                  </a:lnTo>
                  <a:cubicBezTo>
                    <a:pt x="7011924" y="0"/>
                    <a:pt x="7077456" y="65532"/>
                    <a:pt x="7077456" y="146304"/>
                  </a:cubicBezTo>
                  <a:lnTo>
                    <a:pt x="7077456" y="5980176"/>
                  </a:lnTo>
                  <a:cubicBezTo>
                    <a:pt x="7077456" y="6060948"/>
                    <a:pt x="7011924" y="6126480"/>
                    <a:pt x="6931152" y="6126480"/>
                  </a:cubicBezTo>
                  <a:lnTo>
                    <a:pt x="146304" y="6126480"/>
                  </a:lnTo>
                  <a:cubicBezTo>
                    <a:pt x="65532" y="6126480"/>
                    <a:pt x="0" y="6060948"/>
                    <a:pt x="0" y="59801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912864" y="4869180"/>
            <a:ext cx="1028700" cy="1028700"/>
            <a:chOff x="0" y="0"/>
            <a:chExt cx="1371600" cy="137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159752" y="5116068"/>
            <a:ext cx="534924" cy="534924"/>
            <a:chOff x="0" y="0"/>
            <a:chExt cx="713232" cy="713232"/>
          </a:xfrm>
        </p:grpSpPr>
        <p:sp>
          <p:nvSpPr>
            <p:cNvPr name="Freeform 33" id="33" descr="/home/claude/work/icon_clipboard.png"/>
            <p:cNvSpPr/>
            <p:nvPr/>
          </p:nvSpPr>
          <p:spPr>
            <a:xfrm flipH="false" flipV="false" rot="0">
              <a:off x="0" y="0"/>
              <a:ext cx="713232" cy="713232"/>
            </a:xfrm>
            <a:custGeom>
              <a:avLst/>
              <a:gdLst/>
              <a:ahLst/>
              <a:cxnLst/>
              <a:rect r="r" b="b" t="t" l="l"/>
              <a:pathLst>
                <a:path h="713232" w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885432" y="6103620"/>
            <a:ext cx="4526280" cy="891540"/>
            <a:chOff x="0" y="0"/>
            <a:chExt cx="6035040" cy="1188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350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24" r="0" b="-4892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603504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2175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Nivelación automática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85432" y="7063740"/>
            <a:ext cx="4526280" cy="1783080"/>
            <a:chOff x="0" y="0"/>
            <a:chExt cx="6035040" cy="2377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350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3" t="0" r="-54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6035040" cy="2434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Determina el nivel de inglés del estudiante al registrarse, mediante una prueba adaptativa.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124944" y="4457700"/>
            <a:ext cx="5308092" cy="4594860"/>
            <a:chOff x="0" y="0"/>
            <a:chExt cx="7077456" cy="6126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77456" cy="6126480"/>
            </a:xfrm>
            <a:custGeom>
              <a:avLst/>
              <a:gdLst/>
              <a:ahLst/>
              <a:cxnLst/>
              <a:rect r="r" b="b" t="t" l="l"/>
              <a:pathLst>
                <a:path h="6126480" w="70774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31152" y="0"/>
                  </a:lnTo>
                  <a:cubicBezTo>
                    <a:pt x="7011924" y="0"/>
                    <a:pt x="7077456" y="65532"/>
                    <a:pt x="7077456" y="146304"/>
                  </a:cubicBezTo>
                  <a:lnTo>
                    <a:pt x="7077456" y="5980176"/>
                  </a:lnTo>
                  <a:cubicBezTo>
                    <a:pt x="7077456" y="6060948"/>
                    <a:pt x="7011924" y="6126480"/>
                    <a:pt x="6931152" y="6126480"/>
                  </a:cubicBezTo>
                  <a:lnTo>
                    <a:pt x="146304" y="6126480"/>
                  </a:lnTo>
                  <a:cubicBezTo>
                    <a:pt x="65532" y="6126480"/>
                    <a:pt x="0" y="6060948"/>
                    <a:pt x="0" y="59801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563856" y="4869180"/>
            <a:ext cx="1028700" cy="1028700"/>
            <a:chOff x="0" y="0"/>
            <a:chExt cx="1371600" cy="1371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810744" y="5116068"/>
            <a:ext cx="534924" cy="534924"/>
            <a:chOff x="0" y="0"/>
            <a:chExt cx="713232" cy="713232"/>
          </a:xfrm>
        </p:grpSpPr>
        <p:sp>
          <p:nvSpPr>
            <p:cNvPr name="Freeform 45" id="45" descr="/home/claude/work/icon_mic.png"/>
            <p:cNvSpPr/>
            <p:nvPr/>
          </p:nvSpPr>
          <p:spPr>
            <a:xfrm flipH="false" flipV="false" rot="0">
              <a:off x="0" y="0"/>
              <a:ext cx="713232" cy="713232"/>
            </a:xfrm>
            <a:custGeom>
              <a:avLst/>
              <a:gdLst/>
              <a:ahLst/>
              <a:cxnLst/>
              <a:rect r="r" b="b" t="t" l="l"/>
              <a:pathLst>
                <a:path h="713232" w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536424" y="6103620"/>
            <a:ext cx="4526280" cy="891540"/>
            <a:chOff x="0" y="0"/>
            <a:chExt cx="6035040" cy="11887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0350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24" r="0" b="-4892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603504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2175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Corrección fonética en tiempo real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536424" y="7063740"/>
            <a:ext cx="4526280" cy="1783080"/>
            <a:chOff x="0" y="0"/>
            <a:chExt cx="6035040" cy="2377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0350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3" t="0" r="-54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6035040" cy="2434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 una API de reconocimiento de voz (STT) para detectar y corregir errores de pronunciación.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419320" y="9669780"/>
            <a:ext cx="685800" cy="411480"/>
            <a:chOff x="0" y="0"/>
            <a:chExt cx="9144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38912"/>
            <a:chOff x="0" y="0"/>
            <a:chExt cx="146304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B99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ASPECTOS GENERALES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Alcance de la solución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8298180" cy="2125980"/>
            <a:chOff x="0" y="0"/>
            <a:chExt cx="11064240" cy="2834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64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1064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17936" y="0"/>
                  </a:lnTo>
                  <a:cubicBezTo>
                    <a:pt x="10998708" y="0"/>
                    <a:pt x="11064240" y="65532"/>
                    <a:pt x="11064240" y="146304"/>
                  </a:cubicBezTo>
                  <a:lnTo>
                    <a:pt x="11064240" y="2688336"/>
                  </a:lnTo>
                  <a:cubicBezTo>
                    <a:pt x="11064240" y="2769108"/>
                    <a:pt x="10998708" y="2834640"/>
                    <a:pt x="1091793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7008" y="3031236"/>
            <a:ext cx="1165860" cy="1165860"/>
            <a:chOff x="0" y="0"/>
            <a:chExt cx="1554480" cy="155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86814" y="3311042"/>
            <a:ext cx="606247" cy="606247"/>
            <a:chOff x="0" y="0"/>
            <a:chExt cx="808330" cy="808330"/>
          </a:xfrm>
        </p:grpSpPr>
        <p:sp>
          <p:nvSpPr>
            <p:cNvPr name="Freeform 13" id="13" descr="/home/claude/work/icon_clipboard.png"/>
            <p:cNvSpPr/>
            <p:nvPr/>
          </p:nvSpPr>
          <p:spPr>
            <a:xfrm flipH="false" flipV="false" rot="0">
              <a:off x="0" y="0"/>
              <a:ext cx="808355" cy="808355"/>
            </a:xfrm>
            <a:custGeom>
              <a:avLst/>
              <a:gdLst/>
              <a:ahLst/>
              <a:cxnLst/>
              <a:rect r="r" b="b" t="t" l="l"/>
              <a:pathLst>
                <a:path h="808355" w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4620" y="2537460"/>
            <a:ext cx="6103620" cy="2125980"/>
            <a:chOff x="0" y="0"/>
            <a:chExt cx="8138160" cy="2834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381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40" r="0" b="-594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8138160" cy="2853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Evaluación diagnóstica automática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26880" y="2537460"/>
            <a:ext cx="8298180" cy="2125980"/>
            <a:chOff x="0" y="0"/>
            <a:chExt cx="11064240" cy="2834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64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1064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17936" y="0"/>
                  </a:lnTo>
                  <a:cubicBezTo>
                    <a:pt x="10998708" y="0"/>
                    <a:pt x="11064240" y="65532"/>
                    <a:pt x="11064240" y="146304"/>
                  </a:cubicBezTo>
                  <a:lnTo>
                    <a:pt x="11064240" y="2688336"/>
                  </a:lnTo>
                  <a:cubicBezTo>
                    <a:pt x="11064240" y="2769108"/>
                    <a:pt x="10998708" y="2834640"/>
                    <a:pt x="1091793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710928" y="3031236"/>
            <a:ext cx="1165860" cy="1165860"/>
            <a:chOff x="0" y="0"/>
            <a:chExt cx="1554480" cy="1554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990734" y="3311042"/>
            <a:ext cx="606247" cy="606247"/>
            <a:chOff x="0" y="0"/>
            <a:chExt cx="808330" cy="808330"/>
          </a:xfrm>
        </p:grpSpPr>
        <p:sp>
          <p:nvSpPr>
            <p:cNvPr name="Freeform 22" id="22" descr="/home/claude/work/icon_comments.png"/>
            <p:cNvSpPr/>
            <p:nvPr/>
          </p:nvSpPr>
          <p:spPr>
            <a:xfrm flipH="false" flipV="false" rot="0">
              <a:off x="0" y="0"/>
              <a:ext cx="808355" cy="808355"/>
            </a:xfrm>
            <a:custGeom>
              <a:avLst/>
              <a:gdLst/>
              <a:ahLst/>
              <a:cxnLst/>
              <a:rect r="r" b="b" t="t" l="l"/>
              <a:pathLst>
                <a:path h="808355" w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178540" y="2537460"/>
            <a:ext cx="6103620" cy="2125980"/>
            <a:chOff x="0" y="0"/>
            <a:chExt cx="8138160" cy="2834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381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40" r="0" b="-594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8138160" cy="2853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Chat en tiempo real: texto y audio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4869180"/>
            <a:ext cx="8298180" cy="2125980"/>
            <a:chOff x="0" y="0"/>
            <a:chExt cx="11064240" cy="2834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64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1064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17936" y="0"/>
                  </a:lnTo>
                  <a:cubicBezTo>
                    <a:pt x="10998708" y="0"/>
                    <a:pt x="11064240" y="65532"/>
                    <a:pt x="11064240" y="146304"/>
                  </a:cubicBezTo>
                  <a:lnTo>
                    <a:pt x="11064240" y="2688336"/>
                  </a:lnTo>
                  <a:cubicBezTo>
                    <a:pt x="11064240" y="2769108"/>
                    <a:pt x="10998708" y="2834640"/>
                    <a:pt x="1091793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07008" y="5362956"/>
            <a:ext cx="1165860" cy="1165860"/>
            <a:chOff x="0" y="0"/>
            <a:chExt cx="1554480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86814" y="5642762"/>
            <a:ext cx="606247" cy="606247"/>
            <a:chOff x="0" y="0"/>
            <a:chExt cx="808330" cy="808330"/>
          </a:xfrm>
        </p:grpSpPr>
        <p:sp>
          <p:nvSpPr>
            <p:cNvPr name="Freeform 31" id="31" descr="/home/claude/work/icon_users.png"/>
            <p:cNvSpPr/>
            <p:nvPr/>
          </p:nvSpPr>
          <p:spPr>
            <a:xfrm flipH="false" flipV="false" rot="0">
              <a:off x="0" y="0"/>
              <a:ext cx="808355" cy="808355"/>
            </a:xfrm>
            <a:custGeom>
              <a:avLst/>
              <a:gdLst/>
              <a:ahLst/>
              <a:cxnLst/>
              <a:rect r="r" b="b" t="t" l="l"/>
              <a:pathLst>
                <a:path h="808355" w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674620" y="4869180"/>
            <a:ext cx="6103620" cy="2125980"/>
            <a:chOff x="0" y="0"/>
            <a:chExt cx="8138160" cy="2834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381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40" r="0" b="-594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8138160" cy="2853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Emparejamiento por nivel y horario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26880" y="4869180"/>
            <a:ext cx="8298180" cy="2125980"/>
            <a:chOff x="0" y="0"/>
            <a:chExt cx="11064240" cy="2834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064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1064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17936" y="0"/>
                  </a:lnTo>
                  <a:cubicBezTo>
                    <a:pt x="10998708" y="0"/>
                    <a:pt x="11064240" y="65532"/>
                    <a:pt x="11064240" y="146304"/>
                  </a:cubicBezTo>
                  <a:lnTo>
                    <a:pt x="11064240" y="2688336"/>
                  </a:lnTo>
                  <a:cubicBezTo>
                    <a:pt x="11064240" y="2769108"/>
                    <a:pt x="10998708" y="2834640"/>
                    <a:pt x="1091793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710928" y="5362956"/>
            <a:ext cx="1165860" cy="1165860"/>
            <a:chOff x="0" y="0"/>
            <a:chExt cx="155448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990734" y="5642762"/>
            <a:ext cx="606247" cy="606247"/>
            <a:chOff x="0" y="0"/>
            <a:chExt cx="808330" cy="808330"/>
          </a:xfrm>
        </p:grpSpPr>
        <p:sp>
          <p:nvSpPr>
            <p:cNvPr name="Freeform 40" id="40" descr="/home/claude/work/icon_trophy.png"/>
            <p:cNvSpPr/>
            <p:nvPr/>
          </p:nvSpPr>
          <p:spPr>
            <a:xfrm flipH="false" flipV="false" rot="0">
              <a:off x="0" y="0"/>
              <a:ext cx="808355" cy="808355"/>
            </a:xfrm>
            <a:custGeom>
              <a:avLst/>
              <a:gdLst/>
              <a:ahLst/>
              <a:cxnLst/>
              <a:rect r="r" b="b" t="t" l="l"/>
              <a:pathLst>
                <a:path h="808355" w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178540" y="4869180"/>
            <a:ext cx="6103620" cy="2125980"/>
            <a:chOff x="0" y="0"/>
            <a:chExt cx="8138160" cy="2834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381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40" r="0" b="-594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8138160" cy="2853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Gamificación: puntos, insignias, skins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7200900"/>
            <a:ext cx="8298180" cy="2125980"/>
            <a:chOff x="0" y="0"/>
            <a:chExt cx="11064240" cy="2834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064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1064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17936" y="0"/>
                  </a:lnTo>
                  <a:cubicBezTo>
                    <a:pt x="10998708" y="0"/>
                    <a:pt x="11064240" y="65532"/>
                    <a:pt x="11064240" y="146304"/>
                  </a:cubicBezTo>
                  <a:lnTo>
                    <a:pt x="11064240" y="2688336"/>
                  </a:lnTo>
                  <a:cubicBezTo>
                    <a:pt x="11064240" y="2769108"/>
                    <a:pt x="10998708" y="2834640"/>
                    <a:pt x="1091793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07008" y="7694676"/>
            <a:ext cx="1165860" cy="1165860"/>
            <a:chOff x="0" y="0"/>
            <a:chExt cx="1554480" cy="15544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86814" y="7974482"/>
            <a:ext cx="606247" cy="606247"/>
            <a:chOff x="0" y="0"/>
            <a:chExt cx="808330" cy="808330"/>
          </a:xfrm>
        </p:grpSpPr>
        <p:sp>
          <p:nvSpPr>
            <p:cNvPr name="Freeform 49" id="49" descr="/home/claude/work/icon_mic.png"/>
            <p:cNvSpPr/>
            <p:nvPr/>
          </p:nvSpPr>
          <p:spPr>
            <a:xfrm flipH="false" flipV="false" rot="0">
              <a:off x="0" y="0"/>
              <a:ext cx="808355" cy="808355"/>
            </a:xfrm>
            <a:custGeom>
              <a:avLst/>
              <a:gdLst/>
              <a:ahLst/>
              <a:cxnLst/>
              <a:rect r="r" b="b" t="t" l="l"/>
              <a:pathLst>
                <a:path h="808355" w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3" b="3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674620" y="7200900"/>
            <a:ext cx="6103620" cy="2125980"/>
            <a:chOff x="0" y="0"/>
            <a:chExt cx="8138160" cy="2834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381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40" r="0" b="-594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8138160" cy="2853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Feedback de pronunciación por voz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26880" y="7200900"/>
            <a:ext cx="8298180" cy="2125980"/>
            <a:chOff x="0" y="0"/>
            <a:chExt cx="11064240" cy="2834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06424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1064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17936" y="0"/>
                  </a:lnTo>
                  <a:cubicBezTo>
                    <a:pt x="10998708" y="0"/>
                    <a:pt x="11064240" y="65532"/>
                    <a:pt x="11064240" y="146304"/>
                  </a:cubicBezTo>
                  <a:lnTo>
                    <a:pt x="11064240" y="2688336"/>
                  </a:lnTo>
                  <a:cubicBezTo>
                    <a:pt x="11064240" y="2769108"/>
                    <a:pt x="10998708" y="2834640"/>
                    <a:pt x="1091793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710928" y="7694676"/>
            <a:ext cx="1165860" cy="1165860"/>
            <a:chOff x="0" y="0"/>
            <a:chExt cx="1554480" cy="15544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990734" y="7974482"/>
            <a:ext cx="606247" cy="606247"/>
            <a:chOff x="0" y="0"/>
            <a:chExt cx="808330" cy="808330"/>
          </a:xfrm>
        </p:grpSpPr>
        <p:sp>
          <p:nvSpPr>
            <p:cNvPr name="Freeform 58" id="58" descr="/home/claude/work/icon_chart.png"/>
            <p:cNvSpPr/>
            <p:nvPr/>
          </p:nvSpPr>
          <p:spPr>
            <a:xfrm flipH="false" flipV="false" rot="0">
              <a:off x="0" y="0"/>
              <a:ext cx="808355" cy="808355"/>
            </a:xfrm>
            <a:custGeom>
              <a:avLst/>
              <a:gdLst/>
              <a:ahLst/>
              <a:cxnLst/>
              <a:rect r="r" b="b" t="t" l="l"/>
              <a:pathLst>
                <a:path h="808355" w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3" b="3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178540" y="7200900"/>
            <a:ext cx="6103620" cy="2125980"/>
            <a:chOff x="0" y="0"/>
            <a:chExt cx="8138160" cy="2834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381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40" r="0" b="-594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8138160" cy="2853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Panel de progreso personal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2960" y="9464040"/>
            <a:ext cx="16459200" cy="548640"/>
            <a:chOff x="0" y="0"/>
            <a:chExt cx="2194560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1B99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Disponible en plataforma web responsive y aplicación móvil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419320" y="9669780"/>
            <a:ext cx="685800" cy="411480"/>
            <a:chOff x="0" y="0"/>
            <a:chExt cx="914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38912"/>
            <a:chOff x="0" y="0"/>
            <a:chExt cx="146304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B99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 DE NEGOCIO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Lean Canvas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19320" y="966978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6963" y="2501653"/>
            <a:ext cx="17449811" cy="5511849"/>
            <a:chOff x="0" y="0"/>
            <a:chExt cx="20116800" cy="6354267"/>
          </a:xfrm>
        </p:grpSpPr>
        <p:sp>
          <p:nvSpPr>
            <p:cNvPr name="Freeform 12" id="12" descr="/home/claude/work/img-007-002.png"/>
            <p:cNvSpPr/>
            <p:nvPr/>
          </p:nvSpPr>
          <p:spPr>
            <a:xfrm flipH="false" flipV="false" rot="6000">
              <a:off x="-5530" y="-17550"/>
              <a:ext cx="20127860" cy="6389419"/>
            </a:xfrm>
            <a:custGeom>
              <a:avLst/>
              <a:gdLst/>
              <a:ahLst/>
              <a:cxnLst/>
              <a:rect r="r" b="b" t="t" l="l"/>
              <a:pathLst>
                <a:path h="6389419" w="20127860">
                  <a:moveTo>
                    <a:pt x="0" y="35110"/>
                  </a:moveTo>
                  <a:lnTo>
                    <a:pt x="20116769" y="0"/>
                  </a:lnTo>
                  <a:lnTo>
                    <a:pt x="20127860" y="6354308"/>
                  </a:lnTo>
                  <a:lnTo>
                    <a:pt x="11091" y="6389418"/>
                  </a:lnTo>
                  <a:lnTo>
                    <a:pt x="0" y="35110"/>
                  </a:lnTo>
                  <a:close/>
                </a:path>
              </a:pathLst>
            </a:custGeom>
            <a:blipFill>
              <a:blip r:embed="rId4"/>
              <a:stretch>
                <a:fillRect l="-2478" t="-35334" r="-2881" b="-5126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38912"/>
            <a:chOff x="0" y="0"/>
            <a:chExt cx="146304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B99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FUNDAMENTO TEÓRICO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EnglishConnect, la empresa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9738360" cy="6446520"/>
            <a:chOff x="0" y="0"/>
            <a:chExt cx="12984480" cy="859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84480" cy="8595361"/>
            </a:xfrm>
            <a:custGeom>
              <a:avLst/>
              <a:gdLst/>
              <a:ahLst/>
              <a:cxnLst/>
              <a:rect r="r" b="b" t="t" l="l"/>
              <a:pathLst>
                <a:path h="8595361" w="12984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2838176" y="0"/>
                  </a:lnTo>
                  <a:cubicBezTo>
                    <a:pt x="12918948" y="0"/>
                    <a:pt x="12984480" y="65532"/>
                    <a:pt x="12984480" y="146304"/>
                  </a:cubicBezTo>
                  <a:lnTo>
                    <a:pt x="12984480" y="8449056"/>
                  </a:lnTo>
                  <a:cubicBezTo>
                    <a:pt x="12984480" y="8529828"/>
                    <a:pt x="12918948" y="8595361"/>
                    <a:pt x="12838176" y="8595361"/>
                  </a:cubicBezTo>
                  <a:lnTo>
                    <a:pt x="146304" y="8595361"/>
                  </a:lnTo>
                  <a:cubicBezTo>
                    <a:pt x="65532" y="8595360"/>
                    <a:pt x="0" y="8529828"/>
                    <a:pt x="0" y="84490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948940"/>
            <a:ext cx="8778240" cy="1783080"/>
            <a:chOff x="0" y="0"/>
            <a:chExt cx="11704320" cy="2377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043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26" r="0" b="-4592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170432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0"/>
                </a:lnSpc>
              </a:pPr>
              <a:r>
                <a:rPr lang="en-US" sz="2025">
                  <a:solidFill>
                    <a:srgbClr val="1721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Creada en el 2026 en Lima por estudiantes de Ingeniería de Sistemas, EnglishConnect nace de una observación simple: las plataformas existentes enseñan teoría, pero descuidan la interacción humana y la práctica oral.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4869180"/>
            <a:ext cx="4114800" cy="411480"/>
            <a:chOff x="0" y="0"/>
            <a:chExt cx="5486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1B99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MISIÓN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03020" y="5280660"/>
            <a:ext cx="8778240" cy="1234440"/>
            <a:chOff x="0" y="0"/>
            <a:chExt cx="1170432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043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560" r="0" b="-885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170432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Brindar una experiencia de aprendizaje dinámica, accesible e interactiva que mejore las habilidades comunicativas en inglés.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3020" y="6652260"/>
            <a:ext cx="4114800" cy="411480"/>
            <a:chOff x="0" y="0"/>
            <a:chExt cx="5486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VISIÓN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03020" y="7063740"/>
            <a:ext cx="8778240" cy="1234440"/>
            <a:chOff x="0" y="0"/>
            <a:chExt cx="11704320" cy="1645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043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560" r="0" b="-885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170432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 una de las plataformas educativas líderes en Latinoamérica en la enseñanza interactiva del idioma inglés.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2800" y="2606040"/>
            <a:ext cx="6515100" cy="1947672"/>
            <a:chOff x="0" y="0"/>
            <a:chExt cx="8686800" cy="25968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86800" cy="2596896"/>
            </a:xfrm>
            <a:custGeom>
              <a:avLst/>
              <a:gdLst/>
              <a:ahLst/>
              <a:cxnLst/>
              <a:rect r="r" b="b" t="t" l="l"/>
              <a:pathLst>
                <a:path h="2596896" w="8686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540496" y="0"/>
                  </a:lnTo>
                  <a:cubicBezTo>
                    <a:pt x="8621268" y="0"/>
                    <a:pt x="8686800" y="65532"/>
                    <a:pt x="8686800" y="146304"/>
                  </a:cubicBezTo>
                  <a:lnTo>
                    <a:pt x="8686800" y="2450592"/>
                  </a:lnTo>
                  <a:cubicBezTo>
                    <a:pt x="8686800" y="2531364"/>
                    <a:pt x="8621268" y="2596896"/>
                    <a:pt x="8540496" y="2596896"/>
                  </a:cubicBezTo>
                  <a:lnTo>
                    <a:pt x="146304" y="2596896"/>
                  </a:lnTo>
                  <a:cubicBezTo>
                    <a:pt x="65532" y="2596896"/>
                    <a:pt x="0" y="2531364"/>
                    <a:pt x="0" y="2450592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384280" y="2880360"/>
            <a:ext cx="5760720" cy="617220"/>
            <a:chOff x="0" y="0"/>
            <a:chExt cx="7680960" cy="822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80960" cy="822960"/>
            </a:xfrm>
            <a:custGeom>
              <a:avLst/>
              <a:gdLst/>
              <a:ahLst/>
              <a:cxnLst/>
              <a:rect r="r" b="b" t="t" l="l"/>
              <a:pathLst>
                <a:path h="8229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76809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4A2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Java + Servlets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384280" y="3593592"/>
            <a:ext cx="5760720" cy="754380"/>
            <a:chOff x="0" y="0"/>
            <a:chExt cx="768096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80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6809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robusto y escalable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72800" y="4841748"/>
            <a:ext cx="6515100" cy="1947672"/>
            <a:chOff x="0" y="0"/>
            <a:chExt cx="8686800" cy="25968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686800" cy="2596896"/>
            </a:xfrm>
            <a:custGeom>
              <a:avLst/>
              <a:gdLst/>
              <a:ahLst/>
              <a:cxnLst/>
              <a:rect r="r" b="b" t="t" l="l"/>
              <a:pathLst>
                <a:path h="2596896" w="8686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540496" y="0"/>
                  </a:lnTo>
                  <a:cubicBezTo>
                    <a:pt x="8621268" y="0"/>
                    <a:pt x="8686800" y="65532"/>
                    <a:pt x="8686800" y="146304"/>
                  </a:cubicBezTo>
                  <a:lnTo>
                    <a:pt x="8686800" y="2450592"/>
                  </a:lnTo>
                  <a:cubicBezTo>
                    <a:pt x="8686800" y="2531364"/>
                    <a:pt x="8621268" y="2596896"/>
                    <a:pt x="8540496" y="2596896"/>
                  </a:cubicBezTo>
                  <a:lnTo>
                    <a:pt x="146304" y="2596896"/>
                  </a:lnTo>
                  <a:cubicBezTo>
                    <a:pt x="65532" y="2596896"/>
                    <a:pt x="0" y="2531364"/>
                    <a:pt x="0" y="2450592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384280" y="5116068"/>
            <a:ext cx="5760720" cy="617220"/>
            <a:chOff x="0" y="0"/>
            <a:chExt cx="7680960" cy="822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80960" cy="822960"/>
            </a:xfrm>
            <a:custGeom>
              <a:avLst/>
              <a:gdLst/>
              <a:ahLst/>
              <a:cxnLst/>
              <a:rect r="r" b="b" t="t" l="l"/>
              <a:pathLst>
                <a:path h="8229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76809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4A2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MySQL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384280" y="5829300"/>
            <a:ext cx="5760720" cy="754380"/>
            <a:chOff x="0" y="0"/>
            <a:chExt cx="7680960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80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6809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Persistencia de datos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972800" y="7077456"/>
            <a:ext cx="6515100" cy="1947672"/>
            <a:chOff x="0" y="0"/>
            <a:chExt cx="8686800" cy="25968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686800" cy="2596896"/>
            </a:xfrm>
            <a:custGeom>
              <a:avLst/>
              <a:gdLst/>
              <a:ahLst/>
              <a:cxnLst/>
              <a:rect r="r" b="b" t="t" l="l"/>
              <a:pathLst>
                <a:path h="2596896" w="8686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540496" y="0"/>
                  </a:lnTo>
                  <a:cubicBezTo>
                    <a:pt x="8621268" y="0"/>
                    <a:pt x="8686800" y="65532"/>
                    <a:pt x="8686800" y="146304"/>
                  </a:cubicBezTo>
                  <a:lnTo>
                    <a:pt x="8686800" y="2450592"/>
                  </a:lnTo>
                  <a:cubicBezTo>
                    <a:pt x="8686800" y="2531364"/>
                    <a:pt x="8621268" y="2596896"/>
                    <a:pt x="8540496" y="2596896"/>
                  </a:cubicBezTo>
                  <a:lnTo>
                    <a:pt x="146304" y="2596896"/>
                  </a:lnTo>
                  <a:cubicBezTo>
                    <a:pt x="65532" y="2596896"/>
                    <a:pt x="0" y="2531364"/>
                    <a:pt x="0" y="2450592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384280" y="7351776"/>
            <a:ext cx="5760720" cy="617220"/>
            <a:chOff x="0" y="0"/>
            <a:chExt cx="7680960" cy="822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80960" cy="822960"/>
            </a:xfrm>
            <a:custGeom>
              <a:avLst/>
              <a:gdLst/>
              <a:ahLst/>
              <a:cxnLst/>
              <a:rect r="r" b="b" t="t" l="l"/>
              <a:pathLst>
                <a:path h="8229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768096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4A2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JSP responsive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384280" y="8065008"/>
            <a:ext cx="5760720" cy="754380"/>
            <a:chOff x="0" y="0"/>
            <a:chExt cx="768096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809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6809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Interfaz web accesible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419320" y="9669780"/>
            <a:ext cx="685800" cy="411480"/>
            <a:chOff x="0" y="0"/>
            <a:chExt cx="9144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38912"/>
            <a:chOff x="0" y="0"/>
            <a:chExt cx="146304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B99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 DE LA SOLUCIÓN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clases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869180" y="2537460"/>
            <a:ext cx="12618720" cy="8300266"/>
            <a:chOff x="0" y="0"/>
            <a:chExt cx="16824960" cy="11067021"/>
          </a:xfrm>
        </p:grpSpPr>
        <p:sp>
          <p:nvSpPr>
            <p:cNvPr name="Freeform 9" id="9" descr="/home/claude/work/img-018-014.png"/>
            <p:cNvSpPr/>
            <p:nvPr/>
          </p:nvSpPr>
          <p:spPr>
            <a:xfrm flipH="false" flipV="false" rot="0">
              <a:off x="0" y="0"/>
              <a:ext cx="16824961" cy="11067034"/>
            </a:xfrm>
            <a:custGeom>
              <a:avLst/>
              <a:gdLst/>
              <a:ahLst/>
              <a:cxnLst/>
              <a:rect r="r" b="b" t="t" l="l"/>
              <a:pathLst>
                <a:path h="11067034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1067034"/>
                  </a:lnTo>
                  <a:lnTo>
                    <a:pt x="0" y="11067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880360"/>
            <a:ext cx="82296" cy="1440180"/>
            <a:chOff x="0" y="0"/>
            <a:chExt cx="109728" cy="1920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2839212"/>
            <a:ext cx="3429000" cy="548640"/>
            <a:chOff x="0" y="0"/>
            <a:chExt cx="45720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572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Usuario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5860" y="3374136"/>
            <a:ext cx="3429000" cy="932688"/>
            <a:chOff x="0" y="0"/>
            <a:chExt cx="4572000" cy="12435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720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5720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Entidad central: rol, nivel y estrellas.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4828032"/>
            <a:ext cx="82296" cy="1440180"/>
            <a:chOff x="0" y="0"/>
            <a:chExt cx="109728" cy="1920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5860" y="4786884"/>
            <a:ext cx="3429000" cy="548640"/>
            <a:chOff x="0" y="0"/>
            <a:chExt cx="45720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572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Mensaje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65860" y="5321808"/>
            <a:ext cx="3429000" cy="932688"/>
            <a:chOff x="0" y="0"/>
            <a:chExt cx="4572000" cy="12435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720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5720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Publicado en el foro; texto o audio.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6775704"/>
            <a:ext cx="82296" cy="1440180"/>
            <a:chOff x="0" y="0"/>
            <a:chExt cx="109728" cy="1920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65860" y="6734556"/>
            <a:ext cx="3429000" cy="548640"/>
            <a:chOff x="0" y="0"/>
            <a:chExt cx="457200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7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5720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Corrección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65860" y="7269480"/>
            <a:ext cx="3429000" cy="932688"/>
            <a:chOff x="0" y="0"/>
            <a:chExt cx="4572000" cy="12435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720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36" r="0" b="-2163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5720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Feedback privado por mensaje.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419320" y="9669780"/>
            <a:ext cx="685800" cy="411480"/>
            <a:chOff x="0" y="0"/>
            <a:chExt cx="9144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38912"/>
            <a:chOff x="0" y="0"/>
            <a:chExt cx="146304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B99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 DE LA SOLUCIÓN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Modelo de base de datos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46220" y="2468880"/>
            <a:ext cx="10218420" cy="7933068"/>
            <a:chOff x="0" y="0"/>
            <a:chExt cx="13624560" cy="10577424"/>
          </a:xfrm>
        </p:grpSpPr>
        <p:sp>
          <p:nvSpPr>
            <p:cNvPr name="Freeform 9" id="9" descr="/home/claude/work/img-019-015.png"/>
            <p:cNvSpPr/>
            <p:nvPr/>
          </p:nvSpPr>
          <p:spPr>
            <a:xfrm flipH="false" flipV="false" rot="0">
              <a:off x="0" y="0"/>
              <a:ext cx="13624561" cy="10577449"/>
            </a:xfrm>
            <a:custGeom>
              <a:avLst/>
              <a:gdLst/>
              <a:ahLst/>
              <a:cxnLst/>
              <a:rect r="r" b="b" t="t" l="l"/>
              <a:pathLst>
                <a:path h="10577449" w="13624561">
                  <a:moveTo>
                    <a:pt x="0" y="0"/>
                  </a:moveTo>
                  <a:lnTo>
                    <a:pt x="13624561" y="0"/>
                  </a:lnTo>
                  <a:lnTo>
                    <a:pt x="13624561" y="10577449"/>
                  </a:lnTo>
                  <a:lnTo>
                    <a:pt x="0" y="10577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532620"/>
            <a:ext cx="16596360" cy="548640"/>
            <a:chOff x="0" y="0"/>
            <a:chExt cx="2212848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128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i="true">
                  <a:solidFill>
                    <a:srgbClr val="1B99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MySQL · diseño físico con relaciones 1:N y 1:0..1 entre usuario, mensaje, nivel, corrección y recompensa.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419320" y="9669780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38912"/>
            <a:chOff x="0" y="0"/>
            <a:chExt cx="146304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B99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 DE LA SOLUCIÓN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Arquitectura de la solución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52860" y="2263140"/>
            <a:ext cx="5966460" cy="7371693"/>
            <a:chOff x="0" y="0"/>
            <a:chExt cx="7955280" cy="9828924"/>
          </a:xfrm>
        </p:grpSpPr>
        <p:sp>
          <p:nvSpPr>
            <p:cNvPr name="Freeform 9" id="9" descr="/home/claude/work/img-025-021.png"/>
            <p:cNvSpPr/>
            <p:nvPr/>
          </p:nvSpPr>
          <p:spPr>
            <a:xfrm flipH="false" flipV="false" rot="0">
              <a:off x="0" y="0"/>
              <a:ext cx="7955280" cy="9828911"/>
            </a:xfrm>
            <a:custGeom>
              <a:avLst/>
              <a:gdLst/>
              <a:ahLst/>
              <a:cxnLst/>
              <a:rect r="r" b="b" t="t" l="l"/>
              <a:pathLst>
                <a:path h="9828911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9828911"/>
                  </a:lnTo>
                  <a:lnTo>
                    <a:pt x="0" y="9828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674620"/>
            <a:ext cx="10149840" cy="2125980"/>
            <a:chOff x="0" y="0"/>
            <a:chExt cx="13533120" cy="2834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33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3533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386815" y="0"/>
                  </a:lnTo>
                  <a:cubicBezTo>
                    <a:pt x="13467587" y="0"/>
                    <a:pt x="13533120" y="65532"/>
                    <a:pt x="13533120" y="146304"/>
                  </a:cubicBezTo>
                  <a:lnTo>
                    <a:pt x="13533120" y="2688336"/>
                  </a:lnTo>
                  <a:cubicBezTo>
                    <a:pt x="13533120" y="2769108"/>
                    <a:pt x="13467587" y="2834640"/>
                    <a:pt x="13386815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2674620"/>
            <a:ext cx="164592" cy="2125980"/>
            <a:chOff x="0" y="0"/>
            <a:chExt cx="219456" cy="2834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" cy="2834640"/>
            </a:xfrm>
            <a:custGeom>
              <a:avLst/>
              <a:gdLst/>
              <a:ahLst/>
              <a:cxnLst/>
              <a:rect r="r" b="b" t="t" l="l"/>
              <a:pathLst>
                <a:path h="283464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03020" y="2921508"/>
            <a:ext cx="9189720" cy="548640"/>
            <a:chOff x="0" y="0"/>
            <a:chExt cx="1225296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25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374" r="0" b="-2763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22529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Capa cliente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03020" y="3566160"/>
            <a:ext cx="9189720" cy="1097280"/>
            <a:chOff x="0" y="0"/>
            <a:chExt cx="1225296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52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225296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JSP + JavaScript, captura y envía los mensajes del usuario.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5074920"/>
            <a:ext cx="10149840" cy="2125980"/>
            <a:chOff x="0" y="0"/>
            <a:chExt cx="13533120" cy="2834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533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3533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386815" y="0"/>
                  </a:lnTo>
                  <a:cubicBezTo>
                    <a:pt x="13467587" y="0"/>
                    <a:pt x="13533120" y="65532"/>
                    <a:pt x="13533120" y="146304"/>
                  </a:cubicBezTo>
                  <a:lnTo>
                    <a:pt x="13533120" y="2688336"/>
                  </a:lnTo>
                  <a:cubicBezTo>
                    <a:pt x="13533120" y="2769108"/>
                    <a:pt x="13467587" y="2834640"/>
                    <a:pt x="13386815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5074920"/>
            <a:ext cx="164592" cy="2125980"/>
            <a:chOff x="0" y="0"/>
            <a:chExt cx="219456" cy="2834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" cy="2834640"/>
            </a:xfrm>
            <a:custGeom>
              <a:avLst/>
              <a:gdLst/>
              <a:ahLst/>
              <a:cxnLst/>
              <a:rect r="r" b="b" t="t" l="l"/>
              <a:pathLst>
                <a:path h="283464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03020" y="5321808"/>
            <a:ext cx="9189720" cy="548640"/>
            <a:chOff x="0" y="0"/>
            <a:chExt cx="1225296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25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374" r="0" b="-27637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22529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Capa servidor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03020" y="5966460"/>
            <a:ext cx="9189720" cy="1097280"/>
            <a:chOff x="0" y="0"/>
            <a:chExt cx="1225296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252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225296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Servlets + DAO: LoginServlet, ForoServlet, UsuarioDAO, MensajeDAO.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7475220"/>
            <a:ext cx="10149840" cy="2125980"/>
            <a:chOff x="0" y="0"/>
            <a:chExt cx="13533120" cy="2834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533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3533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386815" y="0"/>
                  </a:lnTo>
                  <a:cubicBezTo>
                    <a:pt x="13467587" y="0"/>
                    <a:pt x="13533120" y="65532"/>
                    <a:pt x="13533120" y="146304"/>
                  </a:cubicBezTo>
                  <a:lnTo>
                    <a:pt x="13533120" y="2688336"/>
                  </a:lnTo>
                  <a:cubicBezTo>
                    <a:pt x="13533120" y="2769108"/>
                    <a:pt x="13467587" y="2834640"/>
                    <a:pt x="13386815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7475220"/>
            <a:ext cx="164592" cy="2125980"/>
            <a:chOff x="0" y="0"/>
            <a:chExt cx="219456" cy="2834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" cy="2834640"/>
            </a:xfrm>
            <a:custGeom>
              <a:avLst/>
              <a:gdLst/>
              <a:ahLst/>
              <a:cxnLst/>
              <a:rect r="r" b="b" t="t" l="l"/>
              <a:pathLst>
                <a:path h="283464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03020" y="7722108"/>
            <a:ext cx="9189720" cy="548640"/>
            <a:chOff x="0" y="0"/>
            <a:chExt cx="1225296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252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374" r="0" b="-27637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22529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Servicio externo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03020" y="8366760"/>
            <a:ext cx="9189720" cy="1097280"/>
            <a:chOff x="0" y="0"/>
            <a:chExt cx="12252960" cy="14630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252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225296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 de LanguageTool evalúa la gramática antes de guardar el mensaje.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419320" y="9669780"/>
            <a:ext cx="685800" cy="411480"/>
            <a:chOff x="0" y="0"/>
            <a:chExt cx="9144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38912"/>
            <a:chOff x="0" y="0"/>
            <a:chExt cx="146304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B99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MOCKUPS DEL APLICATIVO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Experiencia del usuario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3936" y="2674620"/>
            <a:ext cx="7049519" cy="6240780"/>
            <a:chOff x="0" y="0"/>
            <a:chExt cx="9399359" cy="8321040"/>
          </a:xfrm>
        </p:grpSpPr>
        <p:sp>
          <p:nvSpPr>
            <p:cNvPr name="Freeform 9" id="9" descr="/home/claude/work/img-020-016.png"/>
            <p:cNvSpPr/>
            <p:nvPr/>
          </p:nvSpPr>
          <p:spPr>
            <a:xfrm flipH="false" flipV="false" rot="0">
              <a:off x="0" y="0"/>
              <a:ext cx="9399397" cy="8321040"/>
            </a:xfrm>
            <a:custGeom>
              <a:avLst/>
              <a:gdLst/>
              <a:ahLst/>
              <a:cxnLst/>
              <a:rect r="r" b="b" t="t" l="l"/>
              <a:pathLst>
                <a:path h="8321040" w="9399397">
                  <a:moveTo>
                    <a:pt x="0" y="0"/>
                  </a:moveTo>
                  <a:lnTo>
                    <a:pt x="9399397" y="0"/>
                  </a:lnTo>
                  <a:lnTo>
                    <a:pt x="9399397" y="8321040"/>
                  </a:lnTo>
                  <a:lnTo>
                    <a:pt x="0" y="8321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33936" y="9052560"/>
            <a:ext cx="7049519" cy="548640"/>
            <a:chOff x="0" y="0"/>
            <a:chExt cx="9399359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9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399360">
                  <a:moveTo>
                    <a:pt x="0" y="0"/>
                  </a:moveTo>
                  <a:lnTo>
                    <a:pt x="9399360" y="0"/>
                  </a:lnTo>
                  <a:lnTo>
                    <a:pt x="939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364" r="0" b="-2003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399359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Inicio de sesión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369265" y="2674620"/>
            <a:ext cx="5160035" cy="6240780"/>
            <a:chOff x="0" y="0"/>
            <a:chExt cx="6880047" cy="8321040"/>
          </a:xfrm>
        </p:grpSpPr>
        <p:sp>
          <p:nvSpPr>
            <p:cNvPr name="Freeform 14" id="14" descr="/home/claude/work/img-022-018.png"/>
            <p:cNvSpPr/>
            <p:nvPr/>
          </p:nvSpPr>
          <p:spPr>
            <a:xfrm flipH="false" flipV="false" rot="0">
              <a:off x="0" y="0"/>
              <a:ext cx="6880098" cy="8321040"/>
            </a:xfrm>
            <a:custGeom>
              <a:avLst/>
              <a:gdLst/>
              <a:ahLst/>
              <a:cxnLst/>
              <a:rect r="r" b="b" t="t" l="l"/>
              <a:pathLst>
                <a:path h="8321040" w="6880098">
                  <a:moveTo>
                    <a:pt x="0" y="0"/>
                  </a:moveTo>
                  <a:lnTo>
                    <a:pt x="6880098" y="0"/>
                  </a:lnTo>
                  <a:lnTo>
                    <a:pt x="6880098" y="8321040"/>
                  </a:lnTo>
                  <a:lnTo>
                    <a:pt x="0" y="8321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369265" y="9052560"/>
            <a:ext cx="5160035" cy="548640"/>
            <a:chOff x="0" y="0"/>
            <a:chExt cx="6880047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0044" cy="731520"/>
            </a:xfrm>
            <a:custGeom>
              <a:avLst/>
              <a:gdLst/>
              <a:ahLst/>
              <a:cxnLst/>
              <a:rect r="r" b="b" t="t" l="l"/>
              <a:pathLst>
                <a:path h="731520" w="6880044">
                  <a:moveTo>
                    <a:pt x="0" y="0"/>
                  </a:moveTo>
                  <a:lnTo>
                    <a:pt x="6880044" y="0"/>
                  </a:lnTo>
                  <a:lnTo>
                    <a:pt x="68800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59" r="0" b="-13325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880047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Test diagnóstico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215091" y="2674620"/>
            <a:ext cx="3434391" cy="6240780"/>
            <a:chOff x="0" y="0"/>
            <a:chExt cx="4579188" cy="8321040"/>
          </a:xfrm>
        </p:grpSpPr>
        <p:sp>
          <p:nvSpPr>
            <p:cNvPr name="Freeform 19" id="19" descr="/home/claude/work/img-023-019.png"/>
            <p:cNvSpPr/>
            <p:nvPr/>
          </p:nvSpPr>
          <p:spPr>
            <a:xfrm flipH="false" flipV="false" rot="0">
              <a:off x="0" y="0"/>
              <a:ext cx="4579239" cy="8321040"/>
            </a:xfrm>
            <a:custGeom>
              <a:avLst/>
              <a:gdLst/>
              <a:ahLst/>
              <a:cxnLst/>
              <a:rect r="r" b="b" t="t" l="l"/>
              <a:pathLst>
                <a:path h="8321040" w="4579239">
                  <a:moveTo>
                    <a:pt x="0" y="0"/>
                  </a:moveTo>
                  <a:lnTo>
                    <a:pt x="4579239" y="0"/>
                  </a:lnTo>
                  <a:lnTo>
                    <a:pt x="4579239" y="8321040"/>
                  </a:lnTo>
                  <a:lnTo>
                    <a:pt x="0" y="8321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215091" y="9052560"/>
            <a:ext cx="3434391" cy="548640"/>
            <a:chOff x="0" y="0"/>
            <a:chExt cx="4579188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9188" cy="731520"/>
            </a:xfrm>
            <a:custGeom>
              <a:avLst/>
              <a:gdLst/>
              <a:ahLst/>
              <a:cxnLst/>
              <a:rect r="r" b="b" t="t" l="l"/>
              <a:pathLst>
                <a:path h="731520" w="4579188">
                  <a:moveTo>
                    <a:pt x="0" y="0"/>
                  </a:moveTo>
                  <a:lnTo>
                    <a:pt x="4579188" y="0"/>
                  </a:lnTo>
                  <a:lnTo>
                    <a:pt x="45791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972" r="0" b="-7197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57918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Foro por nivel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419320" y="9669780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38912"/>
            <a:chOff x="0" y="0"/>
            <a:chExt cx="146304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B99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MOCKUPS DEL APLICATIVO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Corrección automática y privada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0" y="2331720"/>
            <a:ext cx="5201041" cy="7063740"/>
            <a:chOff x="0" y="0"/>
            <a:chExt cx="6934721" cy="9418320"/>
          </a:xfrm>
        </p:grpSpPr>
        <p:sp>
          <p:nvSpPr>
            <p:cNvPr name="Freeform 9" id="9" descr="/home/claude/work/img-024-020.png"/>
            <p:cNvSpPr/>
            <p:nvPr/>
          </p:nvSpPr>
          <p:spPr>
            <a:xfrm flipH="false" flipV="false" rot="0">
              <a:off x="0" y="0"/>
              <a:ext cx="6934708" cy="9418320"/>
            </a:xfrm>
            <a:custGeom>
              <a:avLst/>
              <a:gdLst/>
              <a:ahLst/>
              <a:cxnLst/>
              <a:rect r="r" b="b" t="t" l="l"/>
              <a:pathLst>
                <a:path h="9418320" w="6934708">
                  <a:moveTo>
                    <a:pt x="0" y="0"/>
                  </a:moveTo>
                  <a:lnTo>
                    <a:pt x="6934708" y="0"/>
                  </a:lnTo>
                  <a:lnTo>
                    <a:pt x="6934708" y="9418320"/>
                  </a:lnTo>
                  <a:lnTo>
                    <a:pt x="0" y="9418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743200"/>
            <a:ext cx="850392" cy="850392"/>
            <a:chOff x="0" y="0"/>
            <a:chExt cx="1133856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7052" y="2947292"/>
            <a:ext cx="442208" cy="442208"/>
            <a:chOff x="0" y="0"/>
            <a:chExt cx="589610" cy="589610"/>
          </a:xfrm>
        </p:grpSpPr>
        <p:sp>
          <p:nvSpPr>
            <p:cNvPr name="Freeform 13" id="13" descr="/home/claude/work/icon_check.png"/>
            <p:cNvSpPr/>
            <p:nvPr/>
          </p:nvSpPr>
          <p:spPr>
            <a:xfrm flipH="false" flipV="false" rot="0">
              <a:off x="0" y="0"/>
              <a:ext cx="589661" cy="589661"/>
            </a:xfrm>
            <a:custGeom>
              <a:avLst/>
              <a:gdLst/>
              <a:ahLst/>
              <a:cxnLst/>
              <a:rect r="r" b="b" t="t" l="l"/>
              <a:pathLst>
                <a:path h="589661" w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8" b="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20240" y="2702052"/>
            <a:ext cx="9464040" cy="548640"/>
            <a:chOff x="0" y="0"/>
            <a:chExt cx="1261872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1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116" r="0" b="-28611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26187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Feedback privado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0240" y="3264408"/>
            <a:ext cx="9464040" cy="1028700"/>
            <a:chOff x="0" y="0"/>
            <a:chExt cx="1261872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18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261872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corrección solo aparece en la pantalla del autor del mensaje.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4498848"/>
            <a:ext cx="850392" cy="850392"/>
            <a:chOff x="0" y="0"/>
            <a:chExt cx="1133856" cy="11338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7052" y="4702940"/>
            <a:ext cx="442208" cy="442208"/>
            <a:chOff x="0" y="0"/>
            <a:chExt cx="589610" cy="589610"/>
          </a:xfrm>
        </p:grpSpPr>
        <p:sp>
          <p:nvSpPr>
            <p:cNvPr name="Freeform 23" id="23" descr="/home/claude/work/icon_check.png"/>
            <p:cNvSpPr/>
            <p:nvPr/>
          </p:nvSpPr>
          <p:spPr>
            <a:xfrm flipH="false" flipV="false" rot="0">
              <a:off x="0" y="0"/>
              <a:ext cx="589661" cy="589661"/>
            </a:xfrm>
            <a:custGeom>
              <a:avLst/>
              <a:gdLst/>
              <a:ahLst/>
              <a:cxnLst/>
              <a:rect r="r" b="b" t="t" l="l"/>
              <a:pathLst>
                <a:path h="589661" w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8" b="8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920240" y="4457700"/>
            <a:ext cx="9464040" cy="548640"/>
            <a:chOff x="0" y="0"/>
            <a:chExt cx="126187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1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116" r="0" b="-28611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26187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Fluidez para todos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920240" y="5020056"/>
            <a:ext cx="9464040" cy="1028700"/>
            <a:chOff x="0" y="0"/>
            <a:chExt cx="1261872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618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261872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demás usuarios ven el mensaje original, sin interrupciones.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6254496"/>
            <a:ext cx="850392" cy="850392"/>
            <a:chOff x="0" y="0"/>
            <a:chExt cx="1133856" cy="11338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27052" y="6458588"/>
            <a:ext cx="442208" cy="442208"/>
            <a:chOff x="0" y="0"/>
            <a:chExt cx="589610" cy="589610"/>
          </a:xfrm>
        </p:grpSpPr>
        <p:sp>
          <p:nvSpPr>
            <p:cNvPr name="Freeform 33" id="33" descr="/home/claude/work/icon_check.png"/>
            <p:cNvSpPr/>
            <p:nvPr/>
          </p:nvSpPr>
          <p:spPr>
            <a:xfrm flipH="false" flipV="false" rot="0">
              <a:off x="0" y="0"/>
              <a:ext cx="589661" cy="589661"/>
            </a:xfrm>
            <a:custGeom>
              <a:avLst/>
              <a:gdLst/>
              <a:ahLst/>
              <a:cxnLst/>
              <a:rect r="r" b="b" t="t" l="l"/>
              <a:pathLst>
                <a:path h="589661" w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8" b="8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920240" y="6213348"/>
            <a:ext cx="9464040" cy="548640"/>
            <a:chOff x="0" y="0"/>
            <a:chExt cx="126187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61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116" r="0" b="-28611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261872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Aprendizaje social opcional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920240" y="6775704"/>
            <a:ext cx="9464040" cy="1028700"/>
            <a:chOff x="0" y="0"/>
            <a:chExt cx="12618720" cy="1371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618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261872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botón “Ver corrección” permite a terceros aprender de los errores ajenos si lo desean.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419320" y="9669780"/>
            <a:ext cx="685800" cy="411480"/>
            <a:chOff x="0" y="0"/>
            <a:chExt cx="9144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38912"/>
            <a:chOff x="0" y="0"/>
            <a:chExt cx="146304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B99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CONSTRUCCIÓN DEL PRODUCTO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Buenas prácticas de desarrollo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8298180" cy="2948940"/>
            <a:chOff x="0" y="0"/>
            <a:chExt cx="11064240" cy="3931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6424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1064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17936" y="0"/>
                  </a:lnTo>
                  <a:cubicBezTo>
                    <a:pt x="10998708" y="0"/>
                    <a:pt x="11064240" y="65532"/>
                    <a:pt x="11064240" y="146304"/>
                  </a:cubicBezTo>
                  <a:lnTo>
                    <a:pt x="11064240" y="3785616"/>
                  </a:lnTo>
                  <a:cubicBezTo>
                    <a:pt x="11064240" y="3866388"/>
                    <a:pt x="10998708" y="3931920"/>
                    <a:pt x="10917936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058668"/>
            <a:ext cx="1069848" cy="1069848"/>
            <a:chOff x="0" y="0"/>
            <a:chExt cx="1426464" cy="14264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713232"/>
                  </a:moveTo>
                  <a:cubicBezTo>
                    <a:pt x="0" y="319278"/>
                    <a:pt x="319278" y="0"/>
                    <a:pt x="713232" y="0"/>
                  </a:cubicBezTo>
                  <a:cubicBezTo>
                    <a:pt x="1107186" y="0"/>
                    <a:pt x="1426464" y="319278"/>
                    <a:pt x="1426464" y="713232"/>
                  </a:cubicBezTo>
                  <a:cubicBezTo>
                    <a:pt x="1426464" y="1107186"/>
                    <a:pt x="1107186" y="1426464"/>
                    <a:pt x="713232" y="1426464"/>
                  </a:cubicBezTo>
                  <a:cubicBezTo>
                    <a:pt x="319278" y="1426464"/>
                    <a:pt x="0" y="1107186"/>
                    <a:pt x="0" y="713232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91205" y="3315433"/>
            <a:ext cx="556317" cy="556317"/>
            <a:chOff x="0" y="0"/>
            <a:chExt cx="741756" cy="741756"/>
          </a:xfrm>
        </p:grpSpPr>
        <p:sp>
          <p:nvSpPr>
            <p:cNvPr name="Freeform 13" id="13" descr="/home/claude/work/icon_github.png"/>
            <p:cNvSpPr/>
            <p:nvPr/>
          </p:nvSpPr>
          <p:spPr>
            <a:xfrm flipH="false" flipV="false" rot="0">
              <a:off x="0" y="0"/>
              <a:ext cx="741807" cy="741807"/>
            </a:xfrm>
            <a:custGeom>
              <a:avLst/>
              <a:gdLst/>
              <a:ahLst/>
              <a:cxnLst/>
              <a:rect r="r" b="b" t="t" l="l"/>
              <a:pathLst>
                <a:path h="741807" w="741807">
                  <a:moveTo>
                    <a:pt x="0" y="0"/>
                  </a:moveTo>
                  <a:lnTo>
                    <a:pt x="741807" y="0"/>
                  </a:lnTo>
                  <a:lnTo>
                    <a:pt x="741807" y="741807"/>
                  </a:lnTo>
                  <a:lnTo>
                    <a:pt x="0" y="741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6" b="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4620" y="3017520"/>
            <a:ext cx="6103620" cy="754380"/>
            <a:chOff x="0" y="0"/>
            <a:chExt cx="813816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38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1" r="0" b="-1076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813816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2175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Control de versiones con Git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61872" y="4251960"/>
            <a:ext cx="7475220" cy="1234440"/>
            <a:chOff x="0" y="0"/>
            <a:chExt cx="996696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669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92" r="0" b="-6799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96696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Rama main siempre estable, rama v01 de integración y ramas feat por integrante, consolidadas con pull requests.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26880" y="2674620"/>
            <a:ext cx="8298180" cy="2948940"/>
            <a:chOff x="0" y="0"/>
            <a:chExt cx="11064240" cy="3931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6424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1064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17936" y="0"/>
                  </a:lnTo>
                  <a:cubicBezTo>
                    <a:pt x="10998708" y="0"/>
                    <a:pt x="11064240" y="65532"/>
                    <a:pt x="11064240" y="146304"/>
                  </a:cubicBezTo>
                  <a:lnTo>
                    <a:pt x="11064240" y="3785616"/>
                  </a:lnTo>
                  <a:cubicBezTo>
                    <a:pt x="11064240" y="3866388"/>
                    <a:pt x="10998708" y="3931920"/>
                    <a:pt x="10917936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738360" y="3058668"/>
            <a:ext cx="1069848" cy="1069848"/>
            <a:chOff x="0" y="0"/>
            <a:chExt cx="1426464" cy="14264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713232"/>
                  </a:moveTo>
                  <a:cubicBezTo>
                    <a:pt x="0" y="319278"/>
                    <a:pt x="319278" y="0"/>
                    <a:pt x="713232" y="0"/>
                  </a:cubicBezTo>
                  <a:cubicBezTo>
                    <a:pt x="1107186" y="0"/>
                    <a:pt x="1426464" y="319278"/>
                    <a:pt x="1426464" y="713232"/>
                  </a:cubicBezTo>
                  <a:cubicBezTo>
                    <a:pt x="1426464" y="1107186"/>
                    <a:pt x="1107186" y="1426464"/>
                    <a:pt x="713232" y="1426464"/>
                  </a:cubicBezTo>
                  <a:cubicBezTo>
                    <a:pt x="319278" y="1426464"/>
                    <a:pt x="0" y="1107186"/>
                    <a:pt x="0" y="713232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995125" y="3315433"/>
            <a:ext cx="556317" cy="556317"/>
            <a:chOff x="0" y="0"/>
            <a:chExt cx="741756" cy="741756"/>
          </a:xfrm>
        </p:grpSpPr>
        <p:sp>
          <p:nvSpPr>
            <p:cNvPr name="Freeform 25" id="25" descr="/home/claude/work/icon_cubes.png"/>
            <p:cNvSpPr/>
            <p:nvPr/>
          </p:nvSpPr>
          <p:spPr>
            <a:xfrm flipH="false" flipV="false" rot="0">
              <a:off x="0" y="0"/>
              <a:ext cx="741807" cy="741807"/>
            </a:xfrm>
            <a:custGeom>
              <a:avLst/>
              <a:gdLst/>
              <a:ahLst/>
              <a:cxnLst/>
              <a:rect r="r" b="b" t="t" l="l"/>
              <a:pathLst>
                <a:path h="741807" w="741807">
                  <a:moveTo>
                    <a:pt x="0" y="0"/>
                  </a:moveTo>
                  <a:lnTo>
                    <a:pt x="741807" y="0"/>
                  </a:lnTo>
                  <a:lnTo>
                    <a:pt x="741807" y="741807"/>
                  </a:lnTo>
                  <a:lnTo>
                    <a:pt x="0" y="741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6" b="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178540" y="3017520"/>
            <a:ext cx="6103620" cy="754380"/>
            <a:chOff x="0" y="0"/>
            <a:chExt cx="813816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38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1" r="0" b="-10765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813816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2175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Maven + plugin Shade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65792" y="4251960"/>
            <a:ext cx="7475220" cy="1234440"/>
            <a:chOff x="0" y="0"/>
            <a:chExt cx="9966960" cy="1645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669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92" r="0" b="-6799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96696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pom.xml empaqueta el proyecto como Uber-jar, con todas las dependencias administradas.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829300"/>
            <a:ext cx="8298180" cy="2948940"/>
            <a:chOff x="0" y="0"/>
            <a:chExt cx="11064240" cy="3931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6424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1064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17936" y="0"/>
                  </a:lnTo>
                  <a:cubicBezTo>
                    <a:pt x="10998708" y="0"/>
                    <a:pt x="11064240" y="65532"/>
                    <a:pt x="11064240" y="146304"/>
                  </a:cubicBezTo>
                  <a:lnTo>
                    <a:pt x="11064240" y="3785616"/>
                  </a:lnTo>
                  <a:cubicBezTo>
                    <a:pt x="11064240" y="3866388"/>
                    <a:pt x="10998708" y="3931920"/>
                    <a:pt x="10917936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34440" y="6213348"/>
            <a:ext cx="1069848" cy="1069848"/>
            <a:chOff x="0" y="0"/>
            <a:chExt cx="1426464" cy="14264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713232"/>
                  </a:moveTo>
                  <a:cubicBezTo>
                    <a:pt x="0" y="319278"/>
                    <a:pt x="319278" y="0"/>
                    <a:pt x="713232" y="0"/>
                  </a:cubicBezTo>
                  <a:cubicBezTo>
                    <a:pt x="1107186" y="0"/>
                    <a:pt x="1426464" y="319278"/>
                    <a:pt x="1426464" y="713232"/>
                  </a:cubicBezTo>
                  <a:cubicBezTo>
                    <a:pt x="1426464" y="1107186"/>
                    <a:pt x="1107186" y="1426464"/>
                    <a:pt x="713232" y="1426464"/>
                  </a:cubicBezTo>
                  <a:cubicBezTo>
                    <a:pt x="319278" y="1426464"/>
                    <a:pt x="0" y="1107186"/>
                    <a:pt x="0" y="713232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91205" y="6470113"/>
            <a:ext cx="556317" cy="556317"/>
            <a:chOff x="0" y="0"/>
            <a:chExt cx="741756" cy="741756"/>
          </a:xfrm>
        </p:grpSpPr>
        <p:sp>
          <p:nvSpPr>
            <p:cNvPr name="Freeform 37" id="37" descr="/home/claude/work/icon_layers.png"/>
            <p:cNvSpPr/>
            <p:nvPr/>
          </p:nvSpPr>
          <p:spPr>
            <a:xfrm flipH="false" flipV="false" rot="0">
              <a:off x="0" y="0"/>
              <a:ext cx="741807" cy="741807"/>
            </a:xfrm>
            <a:custGeom>
              <a:avLst/>
              <a:gdLst/>
              <a:ahLst/>
              <a:cxnLst/>
              <a:rect r="r" b="b" t="t" l="l"/>
              <a:pathLst>
                <a:path h="741807" w="741807">
                  <a:moveTo>
                    <a:pt x="0" y="0"/>
                  </a:moveTo>
                  <a:lnTo>
                    <a:pt x="741807" y="0"/>
                  </a:lnTo>
                  <a:lnTo>
                    <a:pt x="741807" y="741807"/>
                  </a:lnTo>
                  <a:lnTo>
                    <a:pt x="0" y="741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6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674620" y="6172200"/>
            <a:ext cx="6103620" cy="754380"/>
            <a:chOff x="0" y="0"/>
            <a:chExt cx="8138160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38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1" r="0" b="-10765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813816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2175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Arquitectura en capas (DAO)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61872" y="7406640"/>
            <a:ext cx="7475220" cy="1234440"/>
            <a:chOff x="0" y="0"/>
            <a:chExt cx="9966960" cy="1645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9669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92" r="0" b="-6799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996696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Servlets, DAO y conexión MySQL separados, para mantener el código ordenado y mantenible.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26880" y="5829300"/>
            <a:ext cx="8298180" cy="2948940"/>
            <a:chOff x="0" y="0"/>
            <a:chExt cx="11064240" cy="3931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06424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1064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17936" y="0"/>
                  </a:lnTo>
                  <a:cubicBezTo>
                    <a:pt x="10998708" y="0"/>
                    <a:pt x="11064240" y="65532"/>
                    <a:pt x="11064240" y="146304"/>
                  </a:cubicBezTo>
                  <a:lnTo>
                    <a:pt x="11064240" y="3785616"/>
                  </a:lnTo>
                  <a:cubicBezTo>
                    <a:pt x="11064240" y="3866388"/>
                    <a:pt x="10998708" y="3931920"/>
                    <a:pt x="10917936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738360" y="6213348"/>
            <a:ext cx="1069848" cy="1069848"/>
            <a:chOff x="0" y="0"/>
            <a:chExt cx="1426464" cy="14264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713232"/>
                  </a:moveTo>
                  <a:cubicBezTo>
                    <a:pt x="0" y="319278"/>
                    <a:pt x="319278" y="0"/>
                    <a:pt x="713232" y="0"/>
                  </a:cubicBezTo>
                  <a:cubicBezTo>
                    <a:pt x="1107186" y="0"/>
                    <a:pt x="1426464" y="319278"/>
                    <a:pt x="1426464" y="713232"/>
                  </a:cubicBezTo>
                  <a:cubicBezTo>
                    <a:pt x="1426464" y="1107186"/>
                    <a:pt x="1107186" y="1426464"/>
                    <a:pt x="713232" y="1426464"/>
                  </a:cubicBezTo>
                  <a:cubicBezTo>
                    <a:pt x="319278" y="1426464"/>
                    <a:pt x="0" y="1107186"/>
                    <a:pt x="0" y="713232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995125" y="6470113"/>
            <a:ext cx="556317" cy="556317"/>
            <a:chOff x="0" y="0"/>
            <a:chExt cx="741756" cy="741756"/>
          </a:xfrm>
        </p:grpSpPr>
        <p:sp>
          <p:nvSpPr>
            <p:cNvPr name="Freeform 49" id="49" descr="/home/claude/work/icon_db.png"/>
            <p:cNvSpPr/>
            <p:nvPr/>
          </p:nvSpPr>
          <p:spPr>
            <a:xfrm flipH="false" flipV="false" rot="0">
              <a:off x="0" y="0"/>
              <a:ext cx="741807" cy="741807"/>
            </a:xfrm>
            <a:custGeom>
              <a:avLst/>
              <a:gdLst/>
              <a:ahLst/>
              <a:cxnLst/>
              <a:rect r="r" b="b" t="t" l="l"/>
              <a:pathLst>
                <a:path h="741807" w="741807">
                  <a:moveTo>
                    <a:pt x="0" y="0"/>
                  </a:moveTo>
                  <a:lnTo>
                    <a:pt x="741807" y="0"/>
                  </a:lnTo>
                  <a:lnTo>
                    <a:pt x="741807" y="741807"/>
                  </a:lnTo>
                  <a:lnTo>
                    <a:pt x="0" y="741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6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178540" y="6172200"/>
            <a:ext cx="6103620" cy="754380"/>
            <a:chOff x="0" y="0"/>
            <a:chExt cx="8138160" cy="1005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38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1" r="0" b="-1076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813816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2175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PreparedStatement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765792" y="7406640"/>
            <a:ext cx="7475220" cy="1234440"/>
            <a:chOff x="0" y="0"/>
            <a:chExt cx="9966960" cy="16459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9669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92" r="0" b="-6799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996696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Todas las consultas SQL usan sentencias preparadas para evitar inyección SQL.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419320" y="9669780"/>
            <a:ext cx="685800" cy="411480"/>
            <a:chOff x="0" y="0"/>
            <a:chExt cx="9144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38912"/>
            <a:chOff x="0" y="0"/>
            <a:chExt cx="1463040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1B99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CIERRE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028700"/>
            <a:chOff x="0" y="0"/>
            <a:chExt cx="2157984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564" r="0" b="-2565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Estado actual y próximos pasos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8161020" cy="6446520"/>
            <a:chOff x="0" y="0"/>
            <a:chExt cx="10881360" cy="859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81361" cy="8595361"/>
            </a:xfrm>
            <a:custGeom>
              <a:avLst/>
              <a:gdLst/>
              <a:ahLst/>
              <a:cxnLst/>
              <a:rect r="r" b="b" t="t" l="l"/>
              <a:pathLst>
                <a:path h="8595361" w="10881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735056" y="0"/>
                  </a:lnTo>
                  <a:cubicBezTo>
                    <a:pt x="10815828" y="0"/>
                    <a:pt x="10881361" y="65532"/>
                    <a:pt x="10881361" y="146304"/>
                  </a:cubicBezTo>
                  <a:lnTo>
                    <a:pt x="10881361" y="8449056"/>
                  </a:lnTo>
                  <a:cubicBezTo>
                    <a:pt x="10881361" y="8529828"/>
                    <a:pt x="10815828" y="8595361"/>
                    <a:pt x="10735056" y="8595361"/>
                  </a:cubicBezTo>
                  <a:lnTo>
                    <a:pt x="146304" y="8595361"/>
                  </a:lnTo>
                  <a:cubicBezTo>
                    <a:pt x="65532" y="8595360"/>
                    <a:pt x="0" y="8529828"/>
                    <a:pt x="0" y="84490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948940"/>
            <a:ext cx="960120" cy="960120"/>
            <a:chOff x="0" y="0"/>
            <a:chExt cx="128016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B998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33449" y="3179369"/>
            <a:ext cx="499262" cy="499262"/>
            <a:chOff x="0" y="0"/>
            <a:chExt cx="665683" cy="665683"/>
          </a:xfrm>
        </p:grpSpPr>
        <p:sp>
          <p:nvSpPr>
            <p:cNvPr name="Freeform 13" id="13" descr="/home/claude/work/icon_check.png"/>
            <p:cNvSpPr/>
            <p:nvPr/>
          </p:nvSpPr>
          <p:spPr>
            <a:xfrm flipH="false" flipV="false" rot="0">
              <a:off x="0" y="0"/>
              <a:ext cx="665734" cy="665734"/>
            </a:xfrm>
            <a:custGeom>
              <a:avLst/>
              <a:gdLst/>
              <a:ahLst/>
              <a:cxnLst/>
              <a:rect r="r" b="b" t="t" l="l"/>
              <a:pathLst>
                <a:path h="665734" w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7" b="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537460" y="3086100"/>
            <a:ext cx="6172200" cy="685800"/>
            <a:chOff x="0" y="0"/>
            <a:chExt cx="82296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2960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8229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B25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Completado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03020" y="4251960"/>
            <a:ext cx="7269480" cy="4526280"/>
            <a:chOff x="0" y="0"/>
            <a:chExt cx="9692640" cy="6035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92640" cy="6035040"/>
            </a:xfrm>
            <a:custGeom>
              <a:avLst/>
              <a:gdLst/>
              <a:ahLst/>
              <a:cxnLst/>
              <a:rect r="r" b="b" t="t" l="l"/>
              <a:pathLst>
                <a:path h="60350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035040"/>
                  </a:lnTo>
                  <a:lnTo>
                    <a:pt x="0" y="6035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87" t="0" r="-2988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71450"/>
              <a:ext cx="9692640" cy="620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3600"/>
                </a:lnSpc>
                <a:buFont typeface="Arial"/>
                <a:buChar char="•"/>
              </a:pPr>
              <a:r>
                <a:rPr lang="en-US" sz="1950">
                  <a:solidFill>
                    <a:srgbClr val="1721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Análisis del problema y Lean Canvas</a:t>
              </a:r>
            </a:p>
            <a:p>
              <a:pPr algn="l" marL="352901" indent="-176451" lvl="1">
                <a:lnSpc>
                  <a:spcPts val="3600"/>
                </a:lnSpc>
                <a:buFont typeface="Arial"/>
                <a:buChar char="•"/>
              </a:pPr>
              <a:r>
                <a:rPr lang="en-US" sz="1950">
                  <a:solidFill>
                    <a:srgbClr val="1721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Diseño de clases y base de datos</a:t>
              </a:r>
            </a:p>
            <a:p>
              <a:pPr algn="l" marL="352901" indent="-176451" lvl="1">
                <a:lnSpc>
                  <a:spcPts val="3600"/>
                </a:lnSpc>
                <a:buFont typeface="Arial"/>
                <a:buChar char="•"/>
              </a:pPr>
              <a:r>
                <a:rPr lang="en-US" sz="1950">
                  <a:solidFill>
                    <a:srgbClr val="1721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Mockups de todos los paneles</a:t>
              </a:r>
            </a:p>
            <a:p>
              <a:pPr algn="l" marL="352901" indent="-176451" lvl="1">
                <a:lnSpc>
                  <a:spcPts val="3600"/>
                </a:lnSpc>
                <a:buFont typeface="Arial"/>
                <a:buChar char="•"/>
              </a:pPr>
              <a:r>
                <a:rPr lang="en-US" sz="1950">
                  <a:solidFill>
                    <a:srgbClr val="1721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Login, registro y test diagnóstico funcionando</a:t>
              </a:r>
            </a:p>
            <a:p>
              <a:pPr algn="l" marL="352901" indent="-176451" lvl="1">
                <a:lnSpc>
                  <a:spcPts val="3600"/>
                </a:lnSpc>
                <a:buFont typeface="Arial"/>
                <a:buChar char="•"/>
              </a:pPr>
              <a:r>
                <a:rPr lang="en-US" sz="1950">
                  <a:solidFill>
                    <a:srgbClr val="1721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Foro por nivel con corrección automática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99448" y="2606040"/>
            <a:ext cx="8161020" cy="6446520"/>
            <a:chOff x="0" y="0"/>
            <a:chExt cx="10881360" cy="859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81361" cy="8595361"/>
            </a:xfrm>
            <a:custGeom>
              <a:avLst/>
              <a:gdLst/>
              <a:ahLst/>
              <a:cxnLst/>
              <a:rect r="r" b="b" t="t" l="l"/>
              <a:pathLst>
                <a:path h="8595361" w="10881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735056" y="0"/>
                  </a:lnTo>
                  <a:cubicBezTo>
                    <a:pt x="10815828" y="0"/>
                    <a:pt x="10881361" y="65532"/>
                    <a:pt x="10881361" y="146304"/>
                  </a:cubicBezTo>
                  <a:lnTo>
                    <a:pt x="10881361" y="8449056"/>
                  </a:lnTo>
                  <a:cubicBezTo>
                    <a:pt x="10881361" y="8529828"/>
                    <a:pt x="10815828" y="8595361"/>
                    <a:pt x="10735056" y="8595361"/>
                  </a:cubicBezTo>
                  <a:lnTo>
                    <a:pt x="146304" y="8595361"/>
                  </a:lnTo>
                  <a:cubicBezTo>
                    <a:pt x="65532" y="8595360"/>
                    <a:pt x="0" y="8529828"/>
                    <a:pt x="0" y="8449056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779508" y="2948940"/>
            <a:ext cx="960120" cy="960120"/>
            <a:chOff x="0" y="0"/>
            <a:chExt cx="1280160" cy="1280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09937" y="3179369"/>
            <a:ext cx="499262" cy="499262"/>
            <a:chOff x="0" y="0"/>
            <a:chExt cx="665683" cy="665683"/>
          </a:xfrm>
        </p:grpSpPr>
        <p:sp>
          <p:nvSpPr>
            <p:cNvPr name="Freeform 25" id="25" descr="/home/claude/work/icon_road.png"/>
            <p:cNvSpPr/>
            <p:nvPr/>
          </p:nvSpPr>
          <p:spPr>
            <a:xfrm flipH="false" flipV="false" rot="0">
              <a:off x="0" y="0"/>
              <a:ext cx="665734" cy="665734"/>
            </a:xfrm>
            <a:custGeom>
              <a:avLst/>
              <a:gdLst/>
              <a:ahLst/>
              <a:cxnLst/>
              <a:rect r="r" b="b" t="t" l="l"/>
              <a:pathLst>
                <a:path h="665734" w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7" b="7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013948" y="3086100"/>
            <a:ext cx="6172200" cy="685800"/>
            <a:chOff x="0" y="0"/>
            <a:chExt cx="822960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2960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8229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Próximos pasos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79508" y="4251960"/>
            <a:ext cx="7269480" cy="4526280"/>
            <a:chOff x="0" y="0"/>
            <a:chExt cx="9692640" cy="6035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92640" cy="6035040"/>
            </a:xfrm>
            <a:custGeom>
              <a:avLst/>
              <a:gdLst/>
              <a:ahLst/>
              <a:cxnLst/>
              <a:rect r="r" b="b" t="t" l="l"/>
              <a:pathLst>
                <a:path h="60350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035040"/>
                  </a:lnTo>
                  <a:lnTo>
                    <a:pt x="0" y="6035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87" t="0" r="-2988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71450"/>
              <a:ext cx="9692640" cy="620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3600"/>
                </a:lnSpc>
                <a:buFont typeface="Arial"/>
                <a:buChar char="•"/>
              </a:pPr>
              <a:r>
                <a:rPr lang="en-US" sz="1950">
                  <a:solidFill>
                    <a:srgbClr val="E4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Pruebas de software y de seguridad</a:t>
              </a:r>
            </a:p>
            <a:p>
              <a:pPr algn="l" marL="352901" indent="-176451" lvl="1">
                <a:lnSpc>
                  <a:spcPts val="3600"/>
                </a:lnSpc>
                <a:buFont typeface="Arial"/>
                <a:buChar char="•"/>
              </a:pPr>
              <a:r>
                <a:rPr lang="en-US" sz="1950">
                  <a:solidFill>
                    <a:srgbClr val="E4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Despliegue de la aplicación (Maven + servidor)</a:t>
              </a:r>
            </a:p>
            <a:p>
              <a:pPr algn="l" marL="352901" indent="-176451" lvl="1">
                <a:lnSpc>
                  <a:spcPts val="3600"/>
                </a:lnSpc>
                <a:buFont typeface="Arial"/>
                <a:buChar char="•"/>
              </a:pPr>
              <a:r>
                <a:rPr lang="en-US" sz="1950">
                  <a:solidFill>
                    <a:srgbClr val="E4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 de monitoreo: logs y salud del sistema</a:t>
              </a:r>
            </a:p>
            <a:p>
              <a:pPr algn="l" marL="352901" indent="-176451" lvl="1">
                <a:lnSpc>
                  <a:spcPts val="3600"/>
                </a:lnSpc>
                <a:buFont typeface="Arial"/>
                <a:buChar char="•"/>
              </a:pPr>
              <a:r>
                <a:rPr lang="en-US" sz="1950">
                  <a:solidFill>
                    <a:srgbClr val="E4EC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 de mantenimiento: backups y cron jobs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419320" y="9669780"/>
            <a:ext cx="685800" cy="411480"/>
            <a:chOff x="0" y="0"/>
            <a:chExt cx="9144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94560" y="-219456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133A6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99080" y="5760720"/>
            <a:ext cx="5760720" cy="5760720"/>
            <a:chOff x="0" y="0"/>
            <a:chExt cx="7680960" cy="7680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133A6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3703320"/>
            <a:ext cx="15773400" cy="1508760"/>
            <a:chOff x="0" y="0"/>
            <a:chExt cx="2103120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03120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sz="7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Gracias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006340"/>
            <a:ext cx="14401800" cy="685800"/>
            <a:chOff x="0" y="0"/>
            <a:chExt cx="19202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202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EnglishConnect · Practica inglés con personas reales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280" y="5966460"/>
            <a:ext cx="1508760" cy="61722"/>
            <a:chOff x="0" y="0"/>
            <a:chExt cx="2011680" cy="822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" cy="82296"/>
            </a:xfrm>
            <a:custGeom>
              <a:avLst/>
              <a:gdLst/>
              <a:ahLst/>
              <a:cxnLst/>
              <a:rect r="r" b="b" t="t" l="l"/>
              <a:pathLst>
                <a:path h="8229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6309360"/>
            <a:ext cx="10972800" cy="685800"/>
            <a:chOff x="0" y="0"/>
            <a:chExt cx="14630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4630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1B99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¿Preguntas?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419320" y="9669780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DAHPs3oXmPo</dc:identifier>
  <dcterms:modified xsi:type="dcterms:W3CDTF">2011-08-01T06:04:30Z</dcterms:modified>
  <cp:revision>1</cp:revision>
  <dc:title>EnglishConnect-.pptx</dc:title>
</cp:coreProperties>
</file>